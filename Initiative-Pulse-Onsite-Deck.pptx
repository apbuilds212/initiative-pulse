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jDj7d75c5rBNHpJmiHCEZ11+qo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7.png"/><Relationship Id="rId5" Type="http://schemas.openxmlformats.org/officeDocument/2006/relationships/image" Target="../media/image11.png"/><Relationship Id="rId6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7.png"/><Relationship Id="rId5" Type="http://schemas.openxmlformats.org/officeDocument/2006/relationships/image" Target="../media/image11.png"/><Relationship Id="rId6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9.png"/><Relationship Id="rId5" Type="http://schemas.openxmlformats.org/officeDocument/2006/relationships/image" Target="../media/image13.png"/><Relationship Id="rId6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Relationship Id="rId4" Type="http://schemas.openxmlformats.org/officeDocument/2006/relationships/image" Target="../media/image12.png"/><Relationship Id="rId5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246D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822960" y="621792"/>
            <a:ext cx="2194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Trebuchet MS"/>
              <a:buNone/>
            </a:pPr>
            <a:r>
              <a:rPr b="1" lang="en-US" sz="21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J</a:t>
            </a:r>
            <a:r>
              <a:rPr b="1" i="0" lang="en-US" sz="2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ustworks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841248" y="1005840"/>
            <a:ext cx="1481328" cy="45720"/>
          </a:xfrm>
          <a:prstGeom prst="rect">
            <a:avLst/>
          </a:prstGeom>
          <a:solidFill>
            <a:srgbClr val="4D5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9784080" y="822960"/>
            <a:ext cx="256032" cy="256032"/>
          </a:xfrm>
          <a:prstGeom prst="ellipse">
            <a:avLst/>
          </a:prstGeom>
          <a:solidFill>
            <a:srgbClr val="1A9C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10332720" y="822960"/>
            <a:ext cx="256032" cy="256032"/>
          </a:xfrm>
          <a:prstGeom prst="ellipse">
            <a:avLst/>
          </a:prstGeom>
          <a:solidFill>
            <a:srgbClr val="E08A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10881360" y="822960"/>
            <a:ext cx="256032" cy="256032"/>
          </a:xfrm>
          <a:prstGeom prst="ellipse">
            <a:avLst/>
          </a:prstGeom>
          <a:solidFill>
            <a:srgbClr val="D23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822960" y="155448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0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9FB0FF"/>
                </a:solidFill>
                <a:latin typeface="Trebuchet MS"/>
                <a:ea typeface="Trebuchet MS"/>
                <a:cs typeface="Trebuchet MS"/>
                <a:sym typeface="Trebuchet MS"/>
              </a:rPr>
              <a:t>JUST</a:t>
            </a:r>
            <a:r>
              <a:rPr b="1" lang="en-US" sz="1300">
                <a:solidFill>
                  <a:srgbClr val="9FB0FF"/>
                </a:solidFill>
                <a:latin typeface="Trebuchet MS"/>
                <a:ea typeface="Trebuchet MS"/>
                <a:cs typeface="Trebuchet MS"/>
                <a:sym typeface="Trebuchet MS"/>
              </a:rPr>
              <a:t>W</a:t>
            </a:r>
            <a:r>
              <a:rPr b="1" i="0" lang="en-US" sz="1300" u="none" cap="none" strike="noStrike">
                <a:solidFill>
                  <a:srgbClr val="9FB0FF"/>
                </a:solidFill>
                <a:latin typeface="Trebuchet MS"/>
                <a:ea typeface="Trebuchet MS"/>
                <a:cs typeface="Trebuchet MS"/>
                <a:sym typeface="Trebuchet MS"/>
              </a:rPr>
              <a:t>ORKS · PRODUCT OPERATIONS ASSESSMENT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822960" y="1965960"/>
            <a:ext cx="10515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Trebuchet MS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Initiative Pulse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822960" y="3154680"/>
            <a:ext cx="9601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2FF"/>
              </a:buClr>
              <a:buSzPts val="2100"/>
              <a:buFont typeface="Calibri"/>
              <a:buNone/>
            </a:pPr>
            <a:r>
              <a:rPr b="0" i="0" lang="en-US" sz="2100" u="none" cap="none" strike="noStrike">
                <a:solidFill>
                  <a:srgbClr val="DCE2FF"/>
                </a:solidFill>
                <a:latin typeface="Calibri"/>
                <a:ea typeface="Calibri"/>
                <a:cs typeface="Calibri"/>
                <a:sym typeface="Calibri"/>
              </a:rPr>
              <a:t>A structured source of truth for Product initiatives</a:t>
            </a:r>
            <a:r>
              <a:rPr lang="en-US" sz="2100">
                <a:solidFill>
                  <a:srgbClr val="DCE2FF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2FF"/>
              </a:buClr>
              <a:buSzPts val="2100"/>
              <a:buFont typeface="Calibri"/>
              <a:buNone/>
            </a:pPr>
            <a:r>
              <a:rPr b="0" i="0" lang="en-US" sz="2100" u="none" cap="none" strike="noStrike">
                <a:solidFill>
                  <a:srgbClr val="DCE2FF"/>
                </a:solidFill>
                <a:latin typeface="Calibri"/>
                <a:ea typeface="Calibri"/>
                <a:cs typeface="Calibri"/>
                <a:sym typeface="Calibri"/>
              </a:rPr>
              <a:t>so status is read, not re-collected.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" name="Google Shape;24;p1"/>
          <p:cNvCxnSpPr/>
          <p:nvPr/>
        </p:nvCxnSpPr>
        <p:spPr>
          <a:xfrm>
            <a:off x="868680" y="4434840"/>
            <a:ext cx="2011680" cy="0"/>
          </a:xfrm>
          <a:prstGeom prst="straightConnector1">
            <a:avLst/>
          </a:prstGeom>
          <a:noFill/>
          <a:ln cap="flat" cmpd="sng" w="31750">
            <a:solidFill>
              <a:srgbClr val="4D5D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1"/>
          <p:cNvSpPr/>
          <p:nvPr/>
        </p:nvSpPr>
        <p:spPr>
          <a:xfrm>
            <a:off x="822960" y="461772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Abel Pena</a:t>
            </a:r>
            <a:r>
              <a:rPr b="0" i="0" lang="en-US" sz="1400" u="none" cap="none" strike="noStrike">
                <a:solidFill>
                  <a:srgbClr val="8C99D6"/>
                </a:solidFill>
                <a:latin typeface="Calibri"/>
                <a:ea typeface="Calibri"/>
                <a:cs typeface="Calibri"/>
                <a:sym typeface="Calibri"/>
              </a:rPr>
              <a:t>   ·   Product Operations Manager candidate   ·   June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822960" y="598932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0FF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9FB0FF"/>
                </a:solidFill>
                <a:latin typeface="Calibri"/>
                <a:ea typeface="Calibri"/>
                <a:cs typeface="Calibri"/>
                <a:sym typeface="Calibri"/>
              </a:rPr>
              <a:t>Runs on the stack you already use — Claude · Notion · Jira · Slack   ·   schema, two AI workflows, live dashboard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0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0000F0"/>
                </a:solidFill>
                <a:latin typeface="Trebuchet MS"/>
                <a:ea typeface="Trebuchet MS"/>
                <a:cs typeface="Trebuchet MS"/>
                <a:sym typeface="Trebuchet MS"/>
              </a:rPr>
              <a:t>LISTENING TOUR · TWO MONTHS EMBEDDED ACROSS TEAMS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502920" y="530352"/>
            <a:ext cx="11155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16163F"/>
                </a:solidFill>
                <a:latin typeface="Trebuchet MS"/>
                <a:ea typeface="Trebuchet MS"/>
                <a:cs typeface="Trebuchet MS"/>
                <a:sym typeface="Trebuchet MS"/>
              </a:rPr>
              <a:t>Four symptoms, in the PMs' own words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6B8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6B86"/>
                </a:solidFill>
                <a:latin typeface="Calibri"/>
                <a:ea typeface="Calibri"/>
                <a:cs typeface="Calibri"/>
                <a:sym typeface="Calibri"/>
              </a:rPr>
              <a:t>Initiative Pulse  ·  JKLM Product Operations Assessment  ·  Abel Pena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11384280" y="647395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6B8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6B86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502920" y="1508760"/>
            <a:ext cx="5532120" cy="1691640"/>
          </a:xfrm>
          <a:prstGeom prst="rect">
            <a:avLst/>
          </a:prstGeom>
          <a:solidFill>
            <a:srgbClr val="F7F8FB"/>
          </a:solidFill>
          <a:ln cap="flat" cmpd="sng" w="12700">
            <a:solidFill>
              <a:srgbClr val="E3E5E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1A2B3C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502920" y="1508760"/>
            <a:ext cx="64008" cy="1691640"/>
          </a:xfrm>
          <a:prstGeom prst="rect">
            <a:avLst/>
          </a:prstGeom>
          <a:solidFill>
            <a:srgbClr val="000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" name="Google Shape;3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7099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2"/>
          <p:cNvSpPr/>
          <p:nvPr/>
        </p:nvSpPr>
        <p:spPr>
          <a:xfrm>
            <a:off x="1124712" y="1655064"/>
            <a:ext cx="46634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16163F"/>
                </a:solidFill>
                <a:latin typeface="Calibri"/>
                <a:ea typeface="Calibri"/>
                <a:cs typeface="Calibri"/>
                <a:sym typeface="Calibri"/>
              </a:rPr>
              <a:t>“Four or five conversations with different people just to socialize an idea… and then later — wait, what happened? How did this not land?”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124712" y="2724912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0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0000F0"/>
                </a:solidFill>
                <a:latin typeface="Trebuchet MS"/>
                <a:ea typeface="Trebuchet MS"/>
                <a:cs typeface="Trebuchet MS"/>
                <a:sym typeface="Trebuchet MS"/>
              </a:rPr>
              <a:t>Decisions evaporate after they're made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6355080" y="1508760"/>
            <a:ext cx="5532120" cy="1691640"/>
          </a:xfrm>
          <a:prstGeom prst="rect">
            <a:avLst/>
          </a:prstGeom>
          <a:solidFill>
            <a:srgbClr val="F7F8FB"/>
          </a:solidFill>
          <a:ln cap="flat" cmpd="sng" w="12700">
            <a:solidFill>
              <a:srgbClr val="E3E5E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1A2B3C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6355080" y="1508760"/>
            <a:ext cx="64008" cy="1691640"/>
          </a:xfrm>
          <a:prstGeom prst="rect">
            <a:avLst/>
          </a:prstGeom>
          <a:solidFill>
            <a:srgbClr val="000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" name="Google Shape;4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0" y="17099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2"/>
          <p:cNvSpPr/>
          <p:nvPr/>
        </p:nvSpPr>
        <p:spPr>
          <a:xfrm>
            <a:off x="6976872" y="1655064"/>
            <a:ext cx="46634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16163F"/>
                </a:solidFill>
                <a:latin typeface="Calibri"/>
                <a:ea typeface="Calibri"/>
                <a:cs typeface="Calibri"/>
                <a:sym typeface="Calibri"/>
              </a:rPr>
              <a:t>“Are these three things done, what's the status, why is this blocked. I didn't become a PM to do that.”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6976872" y="2724912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0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0000F0"/>
                </a:solidFill>
                <a:latin typeface="Trebuchet MS"/>
                <a:ea typeface="Trebuchet MS"/>
                <a:cs typeface="Trebuchet MS"/>
                <a:sym typeface="Trebuchet MS"/>
              </a:rPr>
              <a:t>PMs have become human status APIs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502920" y="3520440"/>
            <a:ext cx="5532120" cy="1691640"/>
          </a:xfrm>
          <a:prstGeom prst="rect">
            <a:avLst/>
          </a:prstGeom>
          <a:solidFill>
            <a:srgbClr val="F7F8FB"/>
          </a:solidFill>
          <a:ln cap="flat" cmpd="sng" w="12700">
            <a:solidFill>
              <a:srgbClr val="E3E5E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1A2B3C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502920" y="3520440"/>
            <a:ext cx="64008" cy="1691640"/>
          </a:xfrm>
          <a:prstGeom prst="rect">
            <a:avLst/>
          </a:prstGeom>
          <a:solidFill>
            <a:srgbClr val="000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" name="Google Shape;4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372160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2"/>
          <p:cNvSpPr/>
          <p:nvPr/>
        </p:nvSpPr>
        <p:spPr>
          <a:xfrm>
            <a:off x="1124712" y="3666744"/>
            <a:ext cx="46634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16163F"/>
                </a:solidFill>
                <a:latin typeface="Calibri"/>
                <a:ea typeface="Calibri"/>
                <a:cs typeface="Calibri"/>
                <a:sym typeface="Calibri"/>
              </a:rPr>
              <a:t>“A lot of my team is spending time not building — because we're enabling go-to-market… our GTM partners aren't enabled to self-serve.”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1124712" y="4736592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0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0000F0"/>
                </a:solidFill>
                <a:latin typeface="Trebuchet MS"/>
                <a:ea typeface="Trebuchet MS"/>
                <a:cs typeface="Trebuchet MS"/>
                <a:sym typeface="Trebuchet MS"/>
              </a:rPr>
              <a:t>Enablement isn't self-serve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6355080" y="3520440"/>
            <a:ext cx="5532120" cy="1691640"/>
          </a:xfrm>
          <a:prstGeom prst="rect">
            <a:avLst/>
          </a:prstGeom>
          <a:solidFill>
            <a:srgbClr val="F7F8FB"/>
          </a:solidFill>
          <a:ln cap="flat" cmpd="sng" w="12700">
            <a:solidFill>
              <a:srgbClr val="E3E5E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1A2B3C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6355080" y="3520440"/>
            <a:ext cx="64008" cy="1691640"/>
          </a:xfrm>
          <a:prstGeom prst="rect">
            <a:avLst/>
          </a:prstGeom>
          <a:solidFill>
            <a:srgbClr val="000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" name="Google Shape;5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0" y="372160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"/>
          <p:cNvSpPr/>
          <p:nvPr/>
        </p:nvSpPr>
        <p:spPr>
          <a:xfrm>
            <a:off x="6976872" y="3666744"/>
            <a:ext cx="46634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16163F"/>
                </a:solidFill>
                <a:latin typeface="Calibri"/>
                <a:ea typeface="Calibri"/>
                <a:cs typeface="Calibri"/>
                <a:sym typeface="Calibri"/>
              </a:rPr>
              <a:t>“Are there ways we can talk about things in a standardized, repeatable way — consumed without someone having to ask for an update?”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6976872" y="4736592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0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0000F0"/>
                </a:solidFill>
                <a:latin typeface="Trebuchet MS"/>
                <a:ea typeface="Trebuchet MS"/>
                <a:cs typeface="Trebuchet MS"/>
                <a:sym typeface="Trebuchet MS"/>
              </a:rPr>
              <a:t>The org is already asking for this fix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502920" y="5650992"/>
            <a:ext cx="11201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6163F"/>
                </a:solidFill>
                <a:latin typeface="Calibri"/>
                <a:ea typeface="Calibri"/>
                <a:cs typeface="Calibri"/>
                <a:sym typeface="Calibri"/>
              </a:rPr>
              <a:t>Observed cost:  </a:t>
            </a:r>
            <a:r>
              <a:rPr b="0" i="0" lang="en-US" sz="1200" u="none" cap="none" strike="noStrike">
                <a:solidFill>
                  <a:srgbClr val="646B86"/>
                </a:solidFill>
                <a:latin typeface="Calibri"/>
                <a:ea typeface="Calibri"/>
                <a:cs typeface="Calibri"/>
                <a:sym typeface="Calibri"/>
              </a:rPr>
              <a:t>2–3 hrs/week compiling status from 6–8 leads   ·   20–30 min re-walking stale specs at every kickoff   ·   QA scenarios from scratch each launch   ·   GTM briefs rebuilt by hand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0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0000F0"/>
                </a:solidFill>
                <a:latin typeface="Trebuchet MS"/>
                <a:ea typeface="Trebuchet MS"/>
                <a:cs typeface="Trebuchet MS"/>
                <a:sym typeface="Trebuchet MS"/>
              </a:rPr>
              <a:t>DIAGNOSIS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502920" y="530352"/>
            <a:ext cx="11155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16163F"/>
                </a:solidFill>
                <a:latin typeface="Trebuchet MS"/>
                <a:ea typeface="Trebuchet MS"/>
                <a:cs typeface="Trebuchet MS"/>
                <a:sym typeface="Trebuchet MS"/>
              </a:rPr>
              <a:t>These aren't four problems. They're one.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6B8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6B86"/>
                </a:solidFill>
                <a:latin typeface="Calibri"/>
                <a:ea typeface="Calibri"/>
                <a:cs typeface="Calibri"/>
                <a:sym typeface="Calibri"/>
              </a:rPr>
              <a:t>Initiative Pulse  ·  JKLM Product Operations Assessment  ·  Abel Pena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11384280" y="647395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6B8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6B8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502920" y="1563624"/>
            <a:ext cx="457200" cy="457200"/>
          </a:xfrm>
          <a:prstGeom prst="ellipse">
            <a:avLst/>
          </a:prstGeom>
          <a:solidFill>
            <a:srgbClr val="EBEB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7" name="Google Shape;6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2648" y="167335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3"/>
          <p:cNvSpPr/>
          <p:nvPr/>
        </p:nvSpPr>
        <p:spPr>
          <a:xfrm>
            <a:off x="1143000" y="1426464"/>
            <a:ext cx="46634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6163F"/>
                </a:solidFill>
                <a:latin typeface="Calibri"/>
                <a:ea typeface="Calibri"/>
                <a:cs typeface="Calibri"/>
                <a:sym typeface="Calibri"/>
              </a:rPr>
              <a:t>Manual weekly status — 2–3 hrs, 6–8 leads, inconsistent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5897880" y="1426464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F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6355080" y="1371600"/>
            <a:ext cx="5349240" cy="841248"/>
          </a:xfrm>
          <a:prstGeom prst="rect">
            <a:avLst/>
          </a:prstGeom>
          <a:solidFill>
            <a:srgbClr val="F7F8FB"/>
          </a:solidFill>
          <a:ln cap="flat" cmpd="sng" w="12700">
            <a:solidFill>
              <a:srgbClr val="E3E5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6537960" y="1426464"/>
            <a:ext cx="5029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6163F"/>
                </a:solidFill>
                <a:latin typeface="Calibri"/>
                <a:ea typeface="Calibri"/>
                <a:cs typeface="Calibri"/>
                <a:sym typeface="Calibri"/>
              </a:rPr>
              <a:t>No structured status data to query → a human re-collects it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502920" y="2532888"/>
            <a:ext cx="457200" cy="457200"/>
          </a:xfrm>
          <a:prstGeom prst="ellipse">
            <a:avLst/>
          </a:prstGeom>
          <a:solidFill>
            <a:srgbClr val="EBEB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3" name="Google Shape;7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2648" y="264261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3"/>
          <p:cNvSpPr/>
          <p:nvPr/>
        </p:nvSpPr>
        <p:spPr>
          <a:xfrm>
            <a:off x="1143000" y="2395728"/>
            <a:ext cx="46634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6163F"/>
                </a:solidFill>
                <a:latin typeface="Calibri"/>
                <a:ea typeface="Calibri"/>
                <a:cs typeface="Calibri"/>
                <a:sym typeface="Calibri"/>
              </a:rPr>
              <a:t>20–30 min re-walking stale specs at kickoff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5897880" y="2395728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F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6355080" y="2340864"/>
            <a:ext cx="5349240" cy="841248"/>
          </a:xfrm>
          <a:prstGeom prst="rect">
            <a:avLst/>
          </a:prstGeom>
          <a:solidFill>
            <a:srgbClr val="F7F8FB"/>
          </a:solidFill>
          <a:ln cap="flat" cmpd="sng" w="12700">
            <a:solidFill>
              <a:srgbClr val="E3E5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6537960" y="2395728"/>
            <a:ext cx="5029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6163F"/>
                </a:solidFill>
                <a:latin typeface="Calibri"/>
                <a:ea typeface="Calibri"/>
                <a:cs typeface="Calibri"/>
                <a:sym typeface="Calibri"/>
              </a:rPr>
              <a:t>The spec isn't a living record → context is re-explained verbally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502920" y="3502152"/>
            <a:ext cx="457200" cy="457200"/>
          </a:xfrm>
          <a:prstGeom prst="ellipse">
            <a:avLst/>
          </a:prstGeom>
          <a:solidFill>
            <a:srgbClr val="EBEB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9" name="Google Shape;79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2648" y="361188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3"/>
          <p:cNvSpPr/>
          <p:nvPr/>
        </p:nvSpPr>
        <p:spPr>
          <a:xfrm>
            <a:off x="1143000" y="3364992"/>
            <a:ext cx="46634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6163F"/>
                </a:solidFill>
                <a:latin typeface="Calibri"/>
                <a:ea typeface="Calibri"/>
                <a:cs typeface="Calibri"/>
                <a:sym typeface="Calibri"/>
              </a:rPr>
              <a:t>QA scenarios built from scratch every launch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5897880" y="3364992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F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6355080" y="3310128"/>
            <a:ext cx="5349240" cy="841248"/>
          </a:xfrm>
          <a:prstGeom prst="rect">
            <a:avLst/>
          </a:prstGeom>
          <a:solidFill>
            <a:srgbClr val="F7F8FB"/>
          </a:solidFill>
          <a:ln cap="flat" cmpd="sng" w="12700">
            <a:solidFill>
              <a:srgbClr val="E3E5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6537960" y="3364992"/>
            <a:ext cx="5029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6163F"/>
                </a:solidFill>
                <a:latin typeface="Calibri"/>
                <a:ea typeface="Calibri"/>
                <a:cs typeface="Calibri"/>
                <a:sym typeface="Calibri"/>
              </a:rPr>
              <a:t>Requirements aren't structured → nothing to reuse or generate from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502920" y="4471416"/>
            <a:ext cx="457200" cy="457200"/>
          </a:xfrm>
          <a:prstGeom prst="ellipse">
            <a:avLst/>
          </a:prstGeom>
          <a:solidFill>
            <a:srgbClr val="EBEB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5" name="Google Shape;85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2648" y="458114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3"/>
          <p:cNvSpPr/>
          <p:nvPr/>
        </p:nvSpPr>
        <p:spPr>
          <a:xfrm>
            <a:off x="1143000" y="4334256"/>
            <a:ext cx="46634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6163F"/>
                </a:solidFill>
                <a:latin typeface="Calibri"/>
                <a:ea typeface="Calibri"/>
                <a:cs typeface="Calibri"/>
                <a:sym typeface="Calibri"/>
              </a:rPr>
              <a:t>GTM briefs rebuilt by hand every launch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5897880" y="4334256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F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6355080" y="4279392"/>
            <a:ext cx="5349240" cy="841248"/>
          </a:xfrm>
          <a:prstGeom prst="rect">
            <a:avLst/>
          </a:prstGeom>
          <a:solidFill>
            <a:srgbClr val="F7F8FB"/>
          </a:solidFill>
          <a:ln cap="flat" cmpd="sng" w="12700">
            <a:solidFill>
              <a:srgbClr val="E3E5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6537960" y="4334256"/>
            <a:ext cx="5029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6163F"/>
                </a:solidFill>
                <a:latin typeface="Calibri"/>
                <a:ea typeface="Calibri"/>
                <a:cs typeface="Calibri"/>
                <a:sym typeface="Calibri"/>
              </a:rPr>
              <a:t>No structured “what shipped / why” record → re-written each time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502920" y="5349240"/>
            <a:ext cx="11201400" cy="868680"/>
          </a:xfrm>
          <a:prstGeom prst="rect">
            <a:avLst/>
          </a:prstGeom>
          <a:solidFill>
            <a:srgbClr val="15246D"/>
          </a:solidFill>
          <a:ln>
            <a:noFill/>
          </a:ln>
          <a:effectLst>
            <a:outerShdw blurRad="88900" rotWithShape="0" algn="bl" dir="8100000" dist="25400">
              <a:srgbClr val="1A2B3C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777240" y="5349240"/>
            <a:ext cx="106984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PDLC standardized the process </a:t>
            </a: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but</a:t>
            </a: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not the data. </a:t>
            </a:r>
            <a:r>
              <a:rPr b="0" i="0" lang="en-US" sz="1350" u="none" cap="none" strike="noStrike">
                <a:solidFill>
                  <a:srgbClr val="DCE2FF"/>
                </a:solidFill>
                <a:latin typeface="Calibri"/>
                <a:ea typeface="Calibri"/>
                <a:cs typeface="Calibri"/>
                <a:sym typeface="Calibri"/>
              </a:rPr>
              <a:t>An initiative is fragmented across Jira, Slack &amp; Notion — so each tool’s AI sees only its own slice. Until one structured record spans them, a human re-keys everything.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0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0000F0"/>
                </a:solidFill>
                <a:latin typeface="Trebuchet MS"/>
                <a:ea typeface="Trebuchet MS"/>
                <a:cs typeface="Trebuchet MS"/>
                <a:sym typeface="Trebuchet MS"/>
              </a:rPr>
              <a:t>THE STACK QUESTION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502920" y="530352"/>
            <a:ext cx="11155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16163F"/>
                </a:solidFill>
                <a:latin typeface="Trebuchet MS"/>
                <a:ea typeface="Trebuchet MS"/>
                <a:cs typeface="Trebuchet MS"/>
                <a:sym typeface="Trebuchet MS"/>
              </a:rPr>
              <a:t>You already run four AI tools. Why build this?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6B8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6B86"/>
                </a:solidFill>
                <a:latin typeface="Calibri"/>
                <a:ea typeface="Calibri"/>
                <a:cs typeface="Calibri"/>
                <a:sym typeface="Calibri"/>
              </a:rPr>
              <a:t>Initiative Pulse  ·  JKLM Product Operations Assessment  ·  Abel Pena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11384280" y="647395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6B8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6B86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502920" y="1563624"/>
            <a:ext cx="457200" cy="457200"/>
          </a:xfrm>
          <a:prstGeom prst="ellipse">
            <a:avLst/>
          </a:prstGeom>
          <a:solidFill>
            <a:srgbClr val="EBEB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1" name="Google Shape;10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2648" y="167335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4"/>
          <p:cNvSpPr/>
          <p:nvPr/>
        </p:nvSpPr>
        <p:spPr>
          <a:xfrm>
            <a:off x="1143000" y="1426464"/>
            <a:ext cx="46634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6163F"/>
                </a:solidFill>
                <a:latin typeface="Calibri"/>
                <a:ea typeface="Calibri"/>
                <a:cs typeface="Calibri"/>
                <a:sym typeface="Calibri"/>
              </a:rPr>
              <a:t>Jira + Rovo AI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5897880" y="1426464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F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6355080" y="1371600"/>
            <a:ext cx="5349240" cy="841248"/>
          </a:xfrm>
          <a:prstGeom prst="rect">
            <a:avLst/>
          </a:prstGeom>
          <a:solidFill>
            <a:srgbClr val="F7F8FB"/>
          </a:solidFill>
          <a:ln cap="flat" cmpd="sng" w="12700">
            <a:solidFill>
              <a:srgbClr val="E3E5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6537960" y="1426464"/>
            <a:ext cx="5029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6163F"/>
                </a:solidFill>
                <a:latin typeface="Calibri"/>
                <a:ea typeface="Calibri"/>
                <a:cs typeface="Calibri"/>
                <a:sym typeface="Calibri"/>
              </a:rPr>
              <a:t>Summarizes &amp; acts on issues — but only inside Jira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502920" y="2532888"/>
            <a:ext cx="457200" cy="457200"/>
          </a:xfrm>
          <a:prstGeom prst="ellipse">
            <a:avLst/>
          </a:prstGeom>
          <a:solidFill>
            <a:srgbClr val="EBEB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7" name="Google Shape;10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2648" y="264261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4"/>
          <p:cNvSpPr/>
          <p:nvPr/>
        </p:nvSpPr>
        <p:spPr>
          <a:xfrm>
            <a:off x="1143000" y="2395728"/>
            <a:ext cx="46634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6163F"/>
                </a:solidFill>
                <a:latin typeface="Calibri"/>
                <a:ea typeface="Calibri"/>
                <a:cs typeface="Calibri"/>
                <a:sym typeface="Calibri"/>
              </a:rPr>
              <a:t>Slack AI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5897880" y="2395728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F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6355080" y="2340864"/>
            <a:ext cx="5349240" cy="841248"/>
          </a:xfrm>
          <a:prstGeom prst="rect">
            <a:avLst/>
          </a:prstGeom>
          <a:solidFill>
            <a:srgbClr val="F7F8FB"/>
          </a:solidFill>
          <a:ln cap="flat" cmpd="sng" w="12700">
            <a:solidFill>
              <a:srgbClr val="E3E5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6537960" y="2395728"/>
            <a:ext cx="5029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6163F"/>
                </a:solidFill>
                <a:latin typeface="Calibri"/>
                <a:ea typeface="Calibri"/>
                <a:cs typeface="Calibri"/>
                <a:sym typeface="Calibri"/>
              </a:rPr>
              <a:t>Summarizes channels &amp; threads — but only inside Slack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502920" y="3502152"/>
            <a:ext cx="457200" cy="457200"/>
          </a:xfrm>
          <a:prstGeom prst="ellipse">
            <a:avLst/>
          </a:prstGeom>
          <a:solidFill>
            <a:srgbClr val="EBEB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3" name="Google Shape;113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2648" y="361188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4"/>
          <p:cNvSpPr/>
          <p:nvPr/>
        </p:nvSpPr>
        <p:spPr>
          <a:xfrm>
            <a:off x="1143000" y="3364992"/>
            <a:ext cx="46634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6163F"/>
                </a:solidFill>
                <a:latin typeface="Calibri"/>
                <a:ea typeface="Calibri"/>
                <a:cs typeface="Calibri"/>
                <a:sym typeface="Calibri"/>
              </a:rPr>
              <a:t>Notion AI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5897880" y="3364992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F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6355080" y="3310128"/>
            <a:ext cx="5349240" cy="841248"/>
          </a:xfrm>
          <a:prstGeom prst="rect">
            <a:avLst/>
          </a:prstGeom>
          <a:solidFill>
            <a:srgbClr val="F7F8FB"/>
          </a:solidFill>
          <a:ln cap="flat" cmpd="sng" w="12700">
            <a:solidFill>
              <a:srgbClr val="E3E5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6537960" y="3364992"/>
            <a:ext cx="5029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6163F"/>
                </a:solidFill>
                <a:latin typeface="Calibri"/>
                <a:ea typeface="Calibri"/>
                <a:cs typeface="Calibri"/>
                <a:sym typeface="Calibri"/>
              </a:rPr>
              <a:t>Agents update databases &amp; docs — but only inside Notion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502920" y="4471416"/>
            <a:ext cx="457200" cy="457200"/>
          </a:xfrm>
          <a:prstGeom prst="ellipse">
            <a:avLst/>
          </a:prstGeom>
          <a:solidFill>
            <a:srgbClr val="EBEB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9" name="Google Shape;119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2648" y="458114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4"/>
          <p:cNvSpPr/>
          <p:nvPr/>
        </p:nvSpPr>
        <p:spPr>
          <a:xfrm>
            <a:off x="1143000" y="4334256"/>
            <a:ext cx="46634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6163F"/>
                </a:solidFill>
                <a:latin typeface="Calibri"/>
                <a:ea typeface="Calibri"/>
                <a:cs typeface="Calibri"/>
                <a:sym typeface="Calibri"/>
              </a:rPr>
              <a:t>The gap all three share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5897880" y="4334256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F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6355080" y="4279392"/>
            <a:ext cx="5349240" cy="841248"/>
          </a:xfrm>
          <a:prstGeom prst="rect">
            <a:avLst/>
          </a:prstGeom>
          <a:solidFill>
            <a:srgbClr val="F7F8FB"/>
          </a:solidFill>
          <a:ln cap="flat" cmpd="sng" w="12700">
            <a:solidFill>
              <a:srgbClr val="E3E5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6537960" y="4334256"/>
            <a:ext cx="5029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6163F"/>
                </a:solidFill>
                <a:latin typeface="Calibri"/>
                <a:ea typeface="Calibri"/>
                <a:cs typeface="Calibri"/>
                <a:sym typeface="Calibri"/>
              </a:rPr>
              <a:t>An initiative is split across all three — no shared, cross-tool structured record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502920" y="5349240"/>
            <a:ext cx="11201400" cy="868680"/>
          </a:xfrm>
          <a:prstGeom prst="rect">
            <a:avLst/>
          </a:prstGeom>
          <a:solidFill>
            <a:srgbClr val="15246D"/>
          </a:solidFill>
          <a:ln>
            <a:noFill/>
          </a:ln>
          <a:effectLst>
            <a:outerShdw blurRad="88900" rotWithShape="0" algn="bl" dir="8100000" dist="25400">
              <a:srgbClr val="1A2B3C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777240" y="5349240"/>
            <a:ext cx="106984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Initiative Pulse is the shared schema + Claude as the glue.  </a:t>
            </a:r>
            <a:r>
              <a:rPr b="0" i="0" lang="en-US" sz="1350" u="none" cap="none" strike="noStrike">
                <a:solidFill>
                  <a:srgbClr val="DCE2FF"/>
                </a:solidFill>
                <a:latin typeface="Calibri"/>
                <a:ea typeface="Calibri"/>
                <a:cs typeface="Calibri"/>
                <a:sym typeface="Calibri"/>
              </a:rPr>
              <a:t>It reconciles </a:t>
            </a:r>
            <a:r>
              <a:rPr lang="en-US" sz="1350">
                <a:solidFill>
                  <a:srgbClr val="DCE2FF"/>
                </a:solidFill>
                <a:latin typeface="Calibri"/>
                <a:ea typeface="Calibri"/>
                <a:cs typeface="Calibri"/>
                <a:sym typeface="Calibri"/>
              </a:rPr>
              <a:t>data across</a:t>
            </a:r>
            <a:r>
              <a:rPr b="0" i="0" lang="en-US" sz="1350" u="none" cap="none" strike="noStrike">
                <a:solidFill>
                  <a:srgbClr val="DCE2FF"/>
                </a:solidFill>
                <a:latin typeface="Calibri"/>
                <a:ea typeface="Calibri"/>
                <a:cs typeface="Calibri"/>
                <a:sym typeface="Calibri"/>
              </a:rPr>
              <a:t> three </a:t>
            </a:r>
            <a:r>
              <a:rPr lang="en-US" sz="1350">
                <a:solidFill>
                  <a:srgbClr val="DCE2FF"/>
                </a:solidFill>
                <a:latin typeface="Calibri"/>
                <a:ea typeface="Calibri"/>
                <a:cs typeface="Calibri"/>
                <a:sym typeface="Calibri"/>
              </a:rPr>
              <a:t>tools</a:t>
            </a:r>
            <a:r>
              <a:rPr b="0" i="0" lang="en-US" sz="1350" u="none" cap="none" strike="noStrike">
                <a:solidFill>
                  <a:srgbClr val="DCE2FF"/>
                </a:solidFill>
                <a:latin typeface="Calibri"/>
                <a:ea typeface="Calibri"/>
                <a:cs typeface="Calibri"/>
                <a:sym typeface="Calibri"/>
              </a:rPr>
              <a:t> into one record</a:t>
            </a:r>
            <a:r>
              <a:rPr lang="en-US" sz="1350">
                <a:solidFill>
                  <a:srgbClr val="DCE2FF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r>
              <a:rPr b="0" i="0" lang="en-US" sz="1350" u="none" cap="none" strike="noStrike">
                <a:solidFill>
                  <a:srgbClr val="DCE2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50">
                <a:solidFill>
                  <a:srgbClr val="DCE2F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0" i="0" lang="en-US" sz="1350" u="none" cap="none" strike="noStrike">
                <a:solidFill>
                  <a:srgbClr val="DCE2FF"/>
                </a:solidFill>
                <a:latin typeface="Calibri"/>
                <a:ea typeface="Calibri"/>
                <a:cs typeface="Calibri"/>
                <a:sym typeface="Calibri"/>
              </a:rPr>
              <a:t>cross-tool layer no single tool’s AI </a:t>
            </a:r>
            <a:r>
              <a:rPr lang="en-US" sz="1350">
                <a:solidFill>
                  <a:srgbClr val="DCE2FF"/>
                </a:solidFill>
                <a:latin typeface="Calibri"/>
                <a:ea typeface="Calibri"/>
                <a:cs typeface="Calibri"/>
                <a:sym typeface="Calibri"/>
              </a:rPr>
              <a:t>has produced.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"/>
          <p:cNvSpPr/>
          <p:nvPr/>
        </p:nvSpPr>
        <p:spPr>
          <a:xfrm>
            <a:off x="502920" y="292608"/>
            <a:ext cx="11155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0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0000F0"/>
                </a:solidFill>
                <a:latin typeface="Trebuchet MS"/>
                <a:ea typeface="Trebuchet MS"/>
                <a:cs typeface="Trebuchet MS"/>
                <a:sym typeface="Trebuchet MS"/>
              </a:rPr>
              <a:t>FOCUS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502920" y="530352"/>
            <a:ext cx="11155800" cy="567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6163F"/>
                </a:solidFill>
                <a:latin typeface="Trebuchet MS"/>
                <a:ea typeface="Trebuchet MS"/>
                <a:cs typeface="Trebuchet MS"/>
                <a:sym typeface="Trebuchet MS"/>
              </a:rPr>
              <a:t>Status reporting is the </a:t>
            </a:r>
            <a:r>
              <a:rPr b="1" lang="en-US" sz="2800">
                <a:solidFill>
                  <a:srgbClr val="16163F"/>
                </a:solidFill>
                <a:latin typeface="Trebuchet MS"/>
                <a:ea typeface="Trebuchet MS"/>
                <a:cs typeface="Trebuchet MS"/>
                <a:sym typeface="Trebuchet MS"/>
              </a:rPr>
              <a:t>entry</a:t>
            </a:r>
            <a:r>
              <a:rPr b="1" lang="en-US" sz="2800">
                <a:solidFill>
                  <a:srgbClr val="16163F"/>
                </a:solidFill>
                <a:latin typeface="Trebuchet MS"/>
                <a:ea typeface="Trebuchet MS"/>
                <a:cs typeface="Trebuchet MS"/>
                <a:sym typeface="Trebuchet MS"/>
              </a:rPr>
              <a:t> point</a:t>
            </a:r>
            <a:endParaRPr b="1" sz="2800">
              <a:solidFill>
                <a:srgbClr val="16163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502920" y="6473952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6B8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6B86"/>
                </a:solidFill>
                <a:latin typeface="Calibri"/>
                <a:ea typeface="Calibri"/>
                <a:cs typeface="Calibri"/>
                <a:sym typeface="Calibri"/>
              </a:rPr>
              <a:t>Initiative Pulse  ·  JKLM Product Operations Assessment  ·  Abel Pena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11384280" y="647395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6B8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6B86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502920" y="1673352"/>
            <a:ext cx="475500" cy="475500"/>
          </a:xfrm>
          <a:prstGeom prst="ellipse">
            <a:avLst/>
          </a:prstGeom>
          <a:solidFill>
            <a:srgbClr val="EBEB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6" name="Google Shape;13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792" y="179222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5"/>
          <p:cNvSpPr/>
          <p:nvPr/>
        </p:nvSpPr>
        <p:spPr>
          <a:xfrm>
            <a:off x="1188720" y="1490472"/>
            <a:ext cx="6035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450"/>
              <a:buFont typeface="Trebuchet MS"/>
              <a:buNone/>
            </a:pPr>
            <a:r>
              <a:rPr b="1" i="0" lang="en-US" sz="1450" u="none" cap="none" strike="noStrike">
                <a:solidFill>
                  <a:srgbClr val="16163F"/>
                </a:solidFill>
                <a:latin typeface="Trebuchet MS"/>
                <a:ea typeface="Trebuchet MS"/>
                <a:cs typeface="Trebuchet MS"/>
                <a:sym typeface="Trebuchet MS"/>
              </a:rPr>
              <a:t>Most quantifiable pain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1188720" y="1819656"/>
            <a:ext cx="6035100" cy="567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646B86"/>
                </a:solidFill>
                <a:latin typeface="Calibri"/>
                <a:ea typeface="Calibri"/>
                <a:cs typeface="Calibri"/>
                <a:sym typeface="Calibri"/>
              </a:rPr>
              <a:t>2–3 hrs a week, 6–8 leads pinged, inconsistent inputs</a:t>
            </a:r>
            <a:endParaRPr b="0" sz="1250">
              <a:solidFill>
                <a:srgbClr val="646B8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502920" y="2807208"/>
            <a:ext cx="475500" cy="475500"/>
          </a:xfrm>
          <a:prstGeom prst="ellipse">
            <a:avLst/>
          </a:prstGeom>
          <a:solidFill>
            <a:srgbClr val="EBEB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0" name="Google Shape;14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792" y="292608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5"/>
          <p:cNvSpPr/>
          <p:nvPr/>
        </p:nvSpPr>
        <p:spPr>
          <a:xfrm>
            <a:off x="1188720" y="2624328"/>
            <a:ext cx="6035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450"/>
              <a:buFont typeface="Trebuchet MS"/>
              <a:buNone/>
            </a:pPr>
            <a:r>
              <a:rPr b="1" i="0" lang="en-US" sz="1450" u="none" cap="none" strike="noStrike">
                <a:solidFill>
                  <a:srgbClr val="16163F"/>
                </a:solidFill>
                <a:latin typeface="Trebuchet MS"/>
                <a:ea typeface="Trebuchet MS"/>
                <a:cs typeface="Trebuchet MS"/>
                <a:sym typeface="Trebuchet MS"/>
              </a:rPr>
              <a:t>The build is the measurement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1188720" y="2953512"/>
            <a:ext cx="6035100" cy="567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646B86"/>
                </a:solidFill>
                <a:latin typeface="Calibri"/>
                <a:ea typeface="Calibri"/>
                <a:cs typeface="Calibri"/>
                <a:sym typeface="Calibri"/>
              </a:rPr>
              <a:t>A self-reporting system is the literal answer to “surface success without a manual audit.”</a:t>
            </a:r>
            <a:endParaRPr b="0" sz="1250">
              <a:solidFill>
                <a:srgbClr val="646B8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502920" y="3941064"/>
            <a:ext cx="475500" cy="475500"/>
          </a:xfrm>
          <a:prstGeom prst="ellipse">
            <a:avLst/>
          </a:prstGeom>
          <a:solidFill>
            <a:srgbClr val="EBEB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4" name="Google Shape;14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792" y="405993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5"/>
          <p:cNvSpPr/>
          <p:nvPr/>
        </p:nvSpPr>
        <p:spPr>
          <a:xfrm>
            <a:off x="1188720" y="3758184"/>
            <a:ext cx="6035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450"/>
              <a:buFont typeface="Trebuchet MS"/>
              <a:buNone/>
            </a:pPr>
            <a:r>
              <a:rPr b="1" i="0" lang="en-US" sz="1450" u="none" cap="none" strike="noStrike">
                <a:solidFill>
                  <a:srgbClr val="16163F"/>
                </a:solidFill>
                <a:latin typeface="Trebuchet MS"/>
                <a:ea typeface="Trebuchet MS"/>
                <a:cs typeface="Trebuchet MS"/>
                <a:sym typeface="Trebuchet MS"/>
              </a:rPr>
              <a:t>Real inside the time box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1188720" y="4087368"/>
            <a:ext cx="6035100" cy="567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646B86"/>
                </a:solidFill>
                <a:latin typeface="Calibri"/>
                <a:ea typeface="Calibri"/>
                <a:cs typeface="Calibri"/>
                <a:sym typeface="Calibri"/>
              </a:rPr>
              <a:t>A schema, two working AI workflows, and a dashboard</a:t>
            </a:r>
            <a:r>
              <a:rPr lang="en-US" sz="1250">
                <a:solidFill>
                  <a:srgbClr val="646B86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0" lang="en-US" sz="1250">
                <a:solidFill>
                  <a:srgbClr val="646B8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>
                <a:solidFill>
                  <a:srgbClr val="646B86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lang="en-US" sz="1250">
                <a:solidFill>
                  <a:srgbClr val="646B86"/>
                </a:solidFill>
                <a:latin typeface="Calibri"/>
                <a:ea typeface="Calibri"/>
                <a:cs typeface="Calibri"/>
                <a:sym typeface="Calibri"/>
              </a:rPr>
              <a:t>omplete and demonstrable</a:t>
            </a:r>
            <a:r>
              <a:rPr lang="en-US" sz="1250">
                <a:solidFill>
                  <a:srgbClr val="646B86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sz="1250">
              <a:solidFill>
                <a:srgbClr val="646B8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502920" y="5074920"/>
            <a:ext cx="475500" cy="475500"/>
          </a:xfrm>
          <a:prstGeom prst="ellipse">
            <a:avLst/>
          </a:prstGeom>
          <a:solidFill>
            <a:srgbClr val="EBEB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8" name="Google Shape;148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1792" y="519379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5"/>
          <p:cNvSpPr/>
          <p:nvPr/>
        </p:nvSpPr>
        <p:spPr>
          <a:xfrm>
            <a:off x="1188720" y="4892040"/>
            <a:ext cx="6035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450"/>
              <a:buFont typeface="Trebuchet MS"/>
              <a:buNone/>
            </a:pPr>
            <a:r>
              <a:rPr b="1" i="0" lang="en-US" sz="1450" u="none" cap="none" strike="noStrike">
                <a:solidFill>
                  <a:srgbClr val="16163F"/>
                </a:solidFill>
                <a:latin typeface="Trebuchet MS"/>
                <a:ea typeface="Trebuchet MS"/>
                <a:cs typeface="Trebuchet MS"/>
                <a:sym typeface="Trebuchet MS"/>
              </a:rPr>
              <a:t>Opens the structural fix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1188720" y="5221224"/>
            <a:ext cx="6035100" cy="567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646B86"/>
                </a:solidFill>
                <a:latin typeface="Calibri"/>
                <a:ea typeface="Calibri"/>
                <a:cs typeface="Calibri"/>
                <a:sym typeface="Calibri"/>
              </a:rPr>
              <a:t>The same record that kills manual status later generates specs, QA scenarios, and GTM briefs.</a:t>
            </a:r>
            <a:endParaRPr b="0" sz="1250">
              <a:solidFill>
                <a:srgbClr val="646B8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7726680" y="1417320"/>
            <a:ext cx="3977700" cy="1326000"/>
          </a:xfrm>
          <a:prstGeom prst="rect">
            <a:avLst/>
          </a:prstGeom>
          <a:solidFill>
            <a:srgbClr val="EBEBFF"/>
          </a:solidFill>
          <a:ln>
            <a:noFill/>
          </a:ln>
          <a:effectLst>
            <a:outerShdw blurRad="88900" rotWithShape="0" algn="bl" dir="8100000" dist="25400">
              <a:srgbClr val="1A2B3C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"/>
          <p:cNvSpPr/>
          <p:nvPr/>
        </p:nvSpPr>
        <p:spPr>
          <a:xfrm>
            <a:off x="7726680" y="1417320"/>
            <a:ext cx="63900" cy="1326000"/>
          </a:xfrm>
          <a:prstGeom prst="rect">
            <a:avLst/>
          </a:prstGeom>
          <a:solidFill>
            <a:srgbClr val="000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"/>
          <p:cNvSpPr/>
          <p:nvPr/>
        </p:nvSpPr>
        <p:spPr>
          <a:xfrm>
            <a:off x="8001000" y="1563624"/>
            <a:ext cx="3429000" cy="603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0000F0"/>
                </a:solidFill>
                <a:latin typeface="Trebuchet MS"/>
                <a:ea typeface="Trebuchet MS"/>
                <a:cs typeface="Trebuchet MS"/>
                <a:sym typeface="Trebuchet MS"/>
              </a:rPr>
              <a:t>2–3 hrs → 0</a:t>
            </a:r>
            <a:endParaRPr b="1" sz="3300">
              <a:solidFill>
                <a:srgbClr val="0000F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8001000" y="2221992"/>
            <a:ext cx="3429000" cy="411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6163F"/>
                </a:solidFill>
                <a:latin typeface="Calibri"/>
                <a:ea typeface="Calibri"/>
                <a:cs typeface="Calibri"/>
                <a:sym typeface="Calibri"/>
              </a:rPr>
              <a:t>weekly manual compile, eliminated</a:t>
            </a:r>
            <a:endParaRPr b="0" sz="1200">
              <a:solidFill>
                <a:srgbClr val="1616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7726680" y="2944368"/>
            <a:ext cx="3977700" cy="1326000"/>
          </a:xfrm>
          <a:prstGeom prst="rect">
            <a:avLst/>
          </a:prstGeom>
          <a:solidFill>
            <a:srgbClr val="EBEBFF"/>
          </a:solidFill>
          <a:ln>
            <a:noFill/>
          </a:ln>
          <a:effectLst>
            <a:outerShdw blurRad="88900" rotWithShape="0" algn="bl" dir="8100000" dist="25400">
              <a:srgbClr val="1A2B3C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"/>
          <p:cNvSpPr/>
          <p:nvPr/>
        </p:nvSpPr>
        <p:spPr>
          <a:xfrm>
            <a:off x="7726680" y="2944368"/>
            <a:ext cx="63900" cy="1326000"/>
          </a:xfrm>
          <a:prstGeom prst="rect">
            <a:avLst/>
          </a:prstGeom>
          <a:solidFill>
            <a:srgbClr val="000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"/>
          <p:cNvSpPr/>
          <p:nvPr/>
        </p:nvSpPr>
        <p:spPr>
          <a:xfrm>
            <a:off x="8001000" y="3090672"/>
            <a:ext cx="3429000" cy="603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0000F0"/>
                </a:solidFill>
                <a:latin typeface="Trebuchet MS"/>
                <a:ea typeface="Trebuchet MS"/>
                <a:cs typeface="Trebuchet MS"/>
                <a:sym typeface="Trebuchet MS"/>
              </a:rPr>
              <a:t>&lt; 5 min</a:t>
            </a:r>
            <a:endParaRPr b="1" sz="3300">
              <a:solidFill>
                <a:srgbClr val="0000F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8001000" y="3749040"/>
            <a:ext cx="3429000" cy="411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6163F"/>
                </a:solidFill>
                <a:latin typeface="Calibri"/>
                <a:ea typeface="Calibri"/>
                <a:cs typeface="Calibri"/>
                <a:sym typeface="Calibri"/>
              </a:rPr>
              <a:t>PM update time per initiative, AI-prefilled</a:t>
            </a:r>
            <a:endParaRPr b="0" sz="1200">
              <a:solidFill>
                <a:srgbClr val="1616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7726680" y="4471416"/>
            <a:ext cx="3977700" cy="1326000"/>
          </a:xfrm>
          <a:prstGeom prst="rect">
            <a:avLst/>
          </a:prstGeom>
          <a:solidFill>
            <a:srgbClr val="EBEBFF"/>
          </a:solidFill>
          <a:ln>
            <a:noFill/>
          </a:ln>
          <a:effectLst>
            <a:outerShdw blurRad="88900" rotWithShape="0" algn="bl" dir="8100000" dist="25400">
              <a:srgbClr val="1A2B3C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"/>
          <p:cNvSpPr/>
          <p:nvPr/>
        </p:nvSpPr>
        <p:spPr>
          <a:xfrm>
            <a:off x="7726680" y="4471416"/>
            <a:ext cx="63900" cy="1326000"/>
          </a:xfrm>
          <a:prstGeom prst="rect">
            <a:avLst/>
          </a:prstGeom>
          <a:solidFill>
            <a:srgbClr val="000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"/>
          <p:cNvSpPr/>
          <p:nvPr/>
        </p:nvSpPr>
        <p:spPr>
          <a:xfrm>
            <a:off x="8001000" y="4617720"/>
            <a:ext cx="3429000" cy="603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0000F0"/>
                </a:solidFill>
                <a:latin typeface="Trebuchet MS"/>
                <a:ea typeface="Trebuchet MS"/>
                <a:cs typeface="Trebuchet MS"/>
                <a:sym typeface="Trebuchet MS"/>
              </a:rPr>
              <a:t>0 pings</a:t>
            </a:r>
            <a:endParaRPr b="1" sz="3300">
              <a:solidFill>
                <a:srgbClr val="0000F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8001000" y="5276088"/>
            <a:ext cx="3429000" cy="411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6163F"/>
                </a:solidFill>
                <a:latin typeface="Calibri"/>
                <a:ea typeface="Calibri"/>
                <a:cs typeface="Calibri"/>
                <a:sym typeface="Calibri"/>
              </a:rPr>
              <a:t>“where's the status?” — leadership self-serves</a:t>
            </a:r>
            <a:endParaRPr b="0" sz="1200">
              <a:solidFill>
                <a:srgbClr val="1616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0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0000F0"/>
                </a:solidFill>
                <a:latin typeface="Trebuchet MS"/>
                <a:ea typeface="Trebuchet MS"/>
                <a:cs typeface="Trebuchet MS"/>
                <a:sym typeface="Trebuchet MS"/>
              </a:rPr>
              <a:t>SOMETHING THAT EXISTS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502920" y="530352"/>
            <a:ext cx="11155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16163F"/>
                </a:solidFill>
                <a:latin typeface="Trebuchet MS"/>
                <a:ea typeface="Trebuchet MS"/>
                <a:cs typeface="Trebuchet MS"/>
                <a:sym typeface="Trebuchet MS"/>
              </a:rPr>
              <a:t>What I built and will demo live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6B8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6B86"/>
                </a:solidFill>
                <a:latin typeface="Calibri"/>
                <a:ea typeface="Calibri"/>
                <a:cs typeface="Calibri"/>
                <a:sym typeface="Calibri"/>
              </a:rPr>
              <a:t>Initiative Pulse  ·  JKLM Product Operations Assessment  ·  Abel Pena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11384280" y="647395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6B8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6B86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502920" y="1783080"/>
            <a:ext cx="2286000" cy="1371600"/>
          </a:xfrm>
          <a:prstGeom prst="rect">
            <a:avLst/>
          </a:prstGeom>
          <a:solidFill>
            <a:srgbClr val="F7F8FB"/>
          </a:solidFill>
          <a:ln cap="flat" cmpd="sng" w="12700">
            <a:solidFill>
              <a:srgbClr val="E3E5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"/>
          <p:cNvSpPr/>
          <p:nvPr/>
        </p:nvSpPr>
        <p:spPr>
          <a:xfrm>
            <a:off x="685800" y="1911096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16163F"/>
                </a:solidFill>
                <a:latin typeface="Trebuchet MS"/>
                <a:ea typeface="Trebuchet MS"/>
                <a:cs typeface="Trebuchet MS"/>
                <a:sym typeface="Trebuchet MS"/>
              </a:rPr>
              <a:t>Messy reality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685800" y="2221992"/>
            <a:ext cx="1920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6B8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46B86"/>
                </a:solidFill>
                <a:latin typeface="Calibri"/>
                <a:ea typeface="Calibri"/>
                <a:cs typeface="Calibri"/>
                <a:sym typeface="Calibri"/>
              </a:rPr>
              <a:t>Pulled from Jira + Slack via connectors or a freeform paste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2834640" y="1783080"/>
            <a:ext cx="457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F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3291840" y="1783080"/>
            <a:ext cx="2514600" cy="1371600"/>
          </a:xfrm>
          <a:prstGeom prst="rect">
            <a:avLst/>
          </a:prstGeom>
          <a:solidFill>
            <a:srgbClr val="0000F0"/>
          </a:solidFill>
          <a:ln>
            <a:noFill/>
          </a:ln>
          <a:effectLst>
            <a:outerShdw blurRad="88900" rotWithShape="0" algn="bl" dir="8100000" dist="25400">
              <a:srgbClr val="1A2B3C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7" name="Google Shape;17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20440" y="194767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6"/>
          <p:cNvSpPr/>
          <p:nvPr/>
        </p:nvSpPr>
        <p:spPr>
          <a:xfrm>
            <a:off x="3886200" y="1929384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Extraction prompt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3520440" y="2286000"/>
            <a:ext cx="21031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2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DCE2FF"/>
                </a:solidFill>
                <a:latin typeface="Calibri"/>
                <a:ea typeface="Calibri"/>
                <a:cs typeface="Calibri"/>
                <a:sym typeface="Calibri"/>
              </a:rPr>
              <a:t>Claude reconciles the inputs into one record. Never invents; flags what it inferred.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5852160" y="1783080"/>
            <a:ext cx="457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F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6309360" y="1618488"/>
            <a:ext cx="2606040" cy="1700784"/>
          </a:xfrm>
          <a:prstGeom prst="rect">
            <a:avLst/>
          </a:prstGeom>
          <a:solidFill>
            <a:srgbClr val="15246D"/>
          </a:solidFill>
          <a:ln>
            <a:noFill/>
          </a:ln>
          <a:effectLst>
            <a:outerShdw blurRad="88900" rotWithShape="0" algn="bl" dir="8100000" dist="25400">
              <a:srgbClr val="1A2B3C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2" name="Google Shape;18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37960" y="180136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6"/>
          <p:cNvSpPr/>
          <p:nvPr/>
        </p:nvSpPr>
        <p:spPr>
          <a:xfrm>
            <a:off x="6903720" y="178308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The structured record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6537960" y="2148840"/>
            <a:ext cx="21945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2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DCE2FF"/>
                </a:solidFill>
                <a:latin typeface="Calibri"/>
                <a:ea typeface="Calibri"/>
                <a:cs typeface="Calibri"/>
                <a:sym typeface="Calibri"/>
              </a:rPr>
              <a:t>A row in Notion</a:t>
            </a:r>
            <a:r>
              <a:rPr lang="en-US" sz="1150">
                <a:solidFill>
                  <a:srgbClr val="DCE2FF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-US" sz="1150" u="none" cap="none" strike="noStrike">
                <a:solidFill>
                  <a:srgbClr val="DCE2FF"/>
                </a:solidFill>
                <a:latin typeface="Calibri"/>
                <a:ea typeface="Calibri"/>
                <a:cs typeface="Calibri"/>
                <a:sym typeface="Calibri"/>
              </a:rPr>
              <a:t> one validated record per initiative. The single source of truth everything else reads.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8961120" y="1005840"/>
            <a:ext cx="457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F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8961120" y="3081528"/>
            <a:ext cx="457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F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9464040" y="1005840"/>
            <a:ext cx="2240280" cy="1143000"/>
          </a:xfrm>
          <a:prstGeom prst="rect">
            <a:avLst/>
          </a:prstGeom>
          <a:solidFill>
            <a:srgbClr val="EBEBFF"/>
          </a:solidFill>
          <a:ln cap="flat" cmpd="sng" w="12700">
            <a:solidFill>
              <a:srgbClr val="000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6"/>
          <p:cNvSpPr/>
          <p:nvPr/>
        </p:nvSpPr>
        <p:spPr>
          <a:xfrm>
            <a:off x="9628632" y="1124712"/>
            <a:ext cx="191109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0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0000F0"/>
                </a:solidFill>
                <a:latin typeface="Trebuchet MS"/>
                <a:ea typeface="Trebuchet MS"/>
                <a:cs typeface="Trebuchet MS"/>
                <a:sym typeface="Trebuchet MS"/>
              </a:rPr>
              <a:t>Rollup prompt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9628632" y="1417320"/>
            <a:ext cx="1911096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6163F"/>
                </a:solidFill>
                <a:latin typeface="Calibri"/>
                <a:ea typeface="Calibri"/>
                <a:cs typeface="Calibri"/>
                <a:sym typeface="Calibri"/>
              </a:rPr>
              <a:t>Weekly summary posted to Slac</a:t>
            </a:r>
            <a:r>
              <a:rPr lang="en-US" sz="1100">
                <a:solidFill>
                  <a:srgbClr val="16163F"/>
                </a:solidFill>
                <a:latin typeface="Calibri"/>
                <a:ea typeface="Calibri"/>
                <a:cs typeface="Calibri"/>
                <a:sym typeface="Calibri"/>
              </a:rPr>
              <a:t>k, which eliminates</a:t>
            </a:r>
            <a:r>
              <a:rPr b="0" i="0" lang="en-US" sz="1100" u="none" cap="none" strike="noStrike">
                <a:solidFill>
                  <a:srgbClr val="16163F"/>
                </a:solidFill>
                <a:latin typeface="Calibri"/>
                <a:ea typeface="Calibri"/>
                <a:cs typeface="Calibri"/>
                <a:sym typeface="Calibri"/>
              </a:rPr>
              <a:t> the 2–3 hr compile </a:t>
            </a:r>
            <a:r>
              <a:rPr lang="en-US" sz="1100">
                <a:solidFill>
                  <a:srgbClr val="16163F"/>
                </a:solidFill>
                <a:latin typeface="Calibri"/>
                <a:ea typeface="Calibri"/>
                <a:cs typeface="Calibri"/>
                <a:sym typeface="Calibri"/>
              </a:rPr>
              <a:t>by PMs</a:t>
            </a:r>
            <a:r>
              <a:rPr b="0" i="0" lang="en-US" sz="1100" u="none" cap="none" strike="noStrike">
                <a:solidFill>
                  <a:srgbClr val="1616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9464040" y="3081528"/>
            <a:ext cx="2240280" cy="1143000"/>
          </a:xfrm>
          <a:prstGeom prst="rect">
            <a:avLst/>
          </a:prstGeom>
          <a:solidFill>
            <a:srgbClr val="EBEBFF"/>
          </a:solidFill>
          <a:ln cap="flat" cmpd="sng" w="12700">
            <a:solidFill>
              <a:srgbClr val="000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"/>
          <p:cNvSpPr/>
          <p:nvPr/>
        </p:nvSpPr>
        <p:spPr>
          <a:xfrm>
            <a:off x="9628632" y="3200400"/>
            <a:ext cx="191109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0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0000F0"/>
                </a:solidFill>
                <a:latin typeface="Trebuchet MS"/>
                <a:ea typeface="Trebuchet MS"/>
                <a:cs typeface="Trebuchet MS"/>
                <a:sym typeface="Trebuchet MS"/>
              </a:rPr>
              <a:t>Live dashboard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9628632" y="3493008"/>
            <a:ext cx="1911096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6163F"/>
                </a:solidFill>
                <a:latin typeface="Calibri"/>
                <a:ea typeface="Calibri"/>
                <a:cs typeface="Calibri"/>
                <a:sym typeface="Calibri"/>
              </a:rPr>
              <a:t>Self-serve board / Notion view reading the record. Nobody gets pinged.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502920" y="4572000"/>
            <a:ext cx="8229600" cy="1463040"/>
          </a:xfrm>
          <a:prstGeom prst="rect">
            <a:avLst/>
          </a:prstGeom>
          <a:solidFill>
            <a:srgbClr val="F7F8FB"/>
          </a:solidFill>
          <a:ln cap="flat" cmpd="sng" w="12700">
            <a:solidFill>
              <a:srgbClr val="E3E5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6"/>
          <p:cNvSpPr/>
          <p:nvPr/>
        </p:nvSpPr>
        <p:spPr>
          <a:xfrm>
            <a:off x="731520" y="4700016"/>
            <a:ext cx="7772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16163F"/>
                </a:solidFill>
                <a:latin typeface="Trebuchet MS"/>
                <a:ea typeface="Trebuchet MS"/>
                <a:cs typeface="Trebuchet MS"/>
                <a:sym typeface="Trebuchet MS"/>
              </a:rPr>
              <a:t>A PM's Monday morning (~2 minutes)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731520" y="50292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6B8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46B86"/>
                </a:solidFill>
                <a:latin typeface="Calibri"/>
                <a:ea typeface="Calibri"/>
                <a:cs typeface="Calibri"/>
                <a:sym typeface="Calibri"/>
              </a:rPr>
              <a:t>1  Paste whatever you already have into the extraction prompt.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6B8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46B86"/>
                </a:solidFill>
                <a:latin typeface="Calibri"/>
                <a:ea typeface="Calibri"/>
                <a:cs typeface="Calibri"/>
                <a:sym typeface="Calibri"/>
              </a:rPr>
              <a:t>2  Eyeball the returned record; confirm anything flagged.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6B8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46B86"/>
                </a:solidFill>
                <a:latin typeface="Calibri"/>
                <a:ea typeface="Calibri"/>
                <a:cs typeface="Calibri"/>
                <a:sym typeface="Calibri"/>
              </a:rPr>
              <a:t>3  Done. Nobody Slacks you for status this week.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8961120" y="4572000"/>
            <a:ext cx="2743200" cy="1463040"/>
          </a:xfrm>
          <a:prstGeom prst="rect">
            <a:avLst/>
          </a:prstGeom>
          <a:solidFill>
            <a:srgbClr val="15246D"/>
          </a:solidFill>
          <a:ln>
            <a:noFill/>
          </a:ln>
          <a:effectLst>
            <a:outerShdw blurRad="88900" rotWithShape="0" algn="bl" dir="8100000" dist="25400">
              <a:srgbClr val="1A2B3C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6"/>
          <p:cNvSpPr/>
          <p:nvPr/>
        </p:nvSpPr>
        <p:spPr>
          <a:xfrm>
            <a:off x="9189720" y="4736592"/>
            <a:ext cx="23317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Everything on this slide exists.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2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DCE2FF"/>
                </a:solidFill>
                <a:latin typeface="Calibri"/>
                <a:ea typeface="Calibri"/>
                <a:cs typeface="Calibri"/>
                <a:sym typeface="Calibri"/>
              </a:rPr>
              <a:t>schema · 2 prompts · 7 sample records · dashboard</a:t>
            </a:r>
            <a:r>
              <a:rPr lang="en-US" sz="1150">
                <a:solidFill>
                  <a:srgbClr val="DCE2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0" i="0" lang="en-US" sz="1150" u="none" cap="none" strike="noStrike">
                <a:solidFill>
                  <a:srgbClr val="DCE2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50">
                <a:solidFill>
                  <a:srgbClr val="DCE2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i="0" lang="en-US" sz="1150" u="none" cap="none" strike="noStrike">
                <a:solidFill>
                  <a:srgbClr val="DCE2FF"/>
                </a:solidFill>
                <a:latin typeface="Calibri"/>
                <a:ea typeface="Calibri"/>
                <a:cs typeface="Calibri"/>
                <a:sym typeface="Calibri"/>
              </a:rPr>
              <a:t>emo next.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0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0000F0"/>
                </a:solidFill>
                <a:latin typeface="Trebuchet MS"/>
                <a:ea typeface="Trebuchet MS"/>
                <a:cs typeface="Trebuchet MS"/>
                <a:sym typeface="Trebuchet MS"/>
              </a:rPr>
              <a:t>HOW IT WORKS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502920" y="530352"/>
            <a:ext cx="11155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16163F"/>
                </a:solidFill>
                <a:latin typeface="Trebuchet MS"/>
                <a:ea typeface="Trebuchet MS"/>
                <a:cs typeface="Trebuchet MS"/>
                <a:sym typeface="Trebuchet MS"/>
              </a:rPr>
              <a:t>The record is the contract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6B8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6B86"/>
                </a:solidFill>
                <a:latin typeface="Calibri"/>
                <a:ea typeface="Calibri"/>
                <a:cs typeface="Calibri"/>
                <a:sym typeface="Calibri"/>
              </a:rPr>
              <a:t>Initiative Pulse  ·  JKLM Product Operations Assessment  ·  Abel Pena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11384280" y="647395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6B8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6B86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502920" y="1371600"/>
            <a:ext cx="5212080" cy="4846320"/>
          </a:xfrm>
          <a:prstGeom prst="rect">
            <a:avLst/>
          </a:prstGeom>
          <a:solidFill>
            <a:srgbClr val="0E1545"/>
          </a:solidFill>
          <a:ln>
            <a:noFill/>
          </a:ln>
          <a:effectLst>
            <a:outerShdw blurRad="88900" rotWithShape="0" algn="bl" dir="8100000" dist="25400">
              <a:srgbClr val="1A2B3C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7"/>
          <p:cNvSpPr/>
          <p:nvPr/>
        </p:nvSpPr>
        <p:spPr>
          <a:xfrm>
            <a:off x="731520" y="150876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0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9FB0FF"/>
                </a:solidFill>
                <a:latin typeface="Consolas"/>
                <a:ea typeface="Consolas"/>
                <a:cs typeface="Consolas"/>
                <a:sym typeface="Consolas"/>
              </a:rPr>
              <a:t>status-schema.yaml — every field queryable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731520" y="1938528"/>
            <a:ext cx="475488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5000"/>
              </a:lnSpc>
              <a:spcBef>
                <a:spcPts val="0"/>
              </a:spcBef>
              <a:spcAft>
                <a:spcPts val="0"/>
              </a:spcAft>
              <a:buClr>
                <a:srgbClr val="8E9DEE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8E9DEE"/>
                </a:solidFill>
                <a:latin typeface="Consolas"/>
                <a:ea typeface="Consolas"/>
                <a:cs typeface="Consolas"/>
                <a:sym typeface="Consolas"/>
              </a:rPr>
              <a:t>id: </a:t>
            </a:r>
            <a:r>
              <a:rPr b="0" i="0" lang="en-US" sz="1200" u="none" cap="none" strike="noStrike">
                <a:solidFill>
                  <a:srgbClr val="ECEFFF"/>
                </a:solidFill>
                <a:latin typeface="Consolas"/>
                <a:ea typeface="Consolas"/>
                <a:cs typeface="Consolas"/>
                <a:sym typeface="Consolas"/>
              </a:rPr>
              <a:t>cmp-003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5000"/>
              </a:lnSpc>
              <a:spcBef>
                <a:spcPts val="0"/>
              </a:spcBef>
              <a:spcAft>
                <a:spcPts val="0"/>
              </a:spcAft>
              <a:buClr>
                <a:srgbClr val="8E9DEE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8E9DEE"/>
                </a:solidFill>
                <a:latin typeface="Consolas"/>
                <a:ea typeface="Consolas"/>
                <a:cs typeface="Consolas"/>
                <a:sym typeface="Consolas"/>
              </a:rPr>
              <a:t>name: </a:t>
            </a:r>
            <a:r>
              <a:rPr b="0" i="0" lang="en-US" sz="1200" u="none" cap="none" strike="noStrike">
                <a:solidFill>
                  <a:srgbClr val="ECEFFF"/>
                </a:solidFill>
                <a:latin typeface="Consolas"/>
                <a:ea typeface="Consolas"/>
                <a:cs typeface="Consolas"/>
                <a:sym typeface="Consolas"/>
              </a:rPr>
              <a:t>Multi-State Tax Compliance Engine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5000"/>
              </a:lnSpc>
              <a:spcBef>
                <a:spcPts val="0"/>
              </a:spcBef>
              <a:spcAft>
                <a:spcPts val="0"/>
              </a:spcAft>
              <a:buClr>
                <a:srgbClr val="8E9DEE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8E9DEE"/>
                </a:solidFill>
                <a:latin typeface="Consolas"/>
                <a:ea typeface="Consolas"/>
                <a:cs typeface="Consolas"/>
                <a:sym typeface="Consolas"/>
              </a:rPr>
              <a:t>mission_team: </a:t>
            </a:r>
            <a:r>
              <a:rPr b="0" i="0" lang="en-US" sz="1200" u="none" cap="none" strike="noStrike">
                <a:solidFill>
                  <a:srgbClr val="ECEFFF"/>
                </a:solidFill>
                <a:latin typeface="Consolas"/>
                <a:ea typeface="Consolas"/>
                <a:cs typeface="Consolas"/>
                <a:sym typeface="Consolas"/>
              </a:rPr>
              <a:t>Compliance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5000"/>
              </a:lnSpc>
              <a:spcBef>
                <a:spcPts val="0"/>
              </a:spcBef>
              <a:spcAft>
                <a:spcPts val="0"/>
              </a:spcAft>
              <a:buClr>
                <a:srgbClr val="8E9DEE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8E9DEE"/>
                </a:solidFill>
                <a:latin typeface="Consolas"/>
                <a:ea typeface="Consolas"/>
                <a:cs typeface="Consolas"/>
                <a:sym typeface="Consolas"/>
              </a:rPr>
              <a:t>pdlc_stage: </a:t>
            </a:r>
            <a:r>
              <a:rPr b="0" i="0" lang="en-US" sz="1200" u="none" cap="none" strike="noStrike">
                <a:solidFill>
                  <a:srgbClr val="ECEFFF"/>
                </a:solidFill>
                <a:latin typeface="Consolas"/>
                <a:ea typeface="Consolas"/>
                <a:cs typeface="Consolas"/>
                <a:sym typeface="Consolas"/>
              </a:rPr>
              <a:t>QA</a:t>
            </a:r>
            <a:r>
              <a:rPr b="0" i="0" lang="en-US" sz="1200" u="none" cap="none" strike="noStrike">
                <a:solidFill>
                  <a:srgbClr val="6B78C8"/>
                </a:solidFill>
                <a:latin typeface="Consolas"/>
                <a:ea typeface="Consolas"/>
                <a:cs typeface="Consolas"/>
                <a:sym typeface="Consolas"/>
              </a:rPr>
              <a:t>      # maps 1:1 to existing Jira statuses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5000"/>
              </a:lnSpc>
              <a:spcBef>
                <a:spcPts val="0"/>
              </a:spcBef>
              <a:spcAft>
                <a:spcPts val="0"/>
              </a:spcAft>
              <a:buClr>
                <a:srgbClr val="8E9DEE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8E9DEE"/>
                </a:solidFill>
                <a:latin typeface="Consolas"/>
                <a:ea typeface="Consolas"/>
                <a:cs typeface="Consolas"/>
                <a:sym typeface="Consolas"/>
              </a:rPr>
              <a:t>rag: </a:t>
            </a:r>
            <a:r>
              <a:rPr b="0" i="0" lang="en-US" sz="1200" u="none" cap="none" strike="noStrike">
                <a:solidFill>
                  <a:srgbClr val="ECEFFF"/>
                </a:solidFill>
                <a:latin typeface="Consolas"/>
                <a:ea typeface="Consolas"/>
                <a:cs typeface="Consolas"/>
                <a:sym typeface="Consolas"/>
              </a:rPr>
              <a:t>red</a:t>
            </a:r>
            <a:r>
              <a:rPr b="0" i="0" lang="en-US" sz="1200" u="none" cap="none" strike="noStrike">
                <a:solidFill>
                  <a:srgbClr val="6B78C8"/>
                </a:solidFill>
                <a:latin typeface="Consolas"/>
                <a:ea typeface="Consolas"/>
                <a:cs typeface="Consolas"/>
                <a:sym typeface="Consolas"/>
              </a:rPr>
              <a:t>            # green | amber | red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5000"/>
              </a:lnSpc>
              <a:spcBef>
                <a:spcPts val="0"/>
              </a:spcBef>
              <a:spcAft>
                <a:spcPts val="0"/>
              </a:spcAft>
              <a:buClr>
                <a:srgbClr val="8E9DEE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8E9DEE"/>
                </a:solidFill>
                <a:latin typeface="Consolas"/>
                <a:ea typeface="Consolas"/>
                <a:cs typeface="Consolas"/>
                <a:sym typeface="Consolas"/>
              </a:rPr>
              <a:t>what_moved: </a:t>
            </a:r>
            <a:r>
              <a:rPr b="0" i="0" lang="en-US" sz="1200" u="none" cap="none" strike="noStrike">
                <a:solidFill>
                  <a:srgbClr val="ECEFFF"/>
                </a:solidFill>
                <a:latin typeface="Consolas"/>
                <a:ea typeface="Consolas"/>
                <a:cs typeface="Consolas"/>
                <a:sym typeface="Consolas"/>
              </a:rPr>
              <a:t>QA surfaced incorrect calc…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5000"/>
              </a:lnSpc>
              <a:spcBef>
                <a:spcPts val="0"/>
              </a:spcBef>
              <a:spcAft>
                <a:spcPts val="0"/>
              </a:spcAft>
              <a:buClr>
                <a:srgbClr val="8E9DEE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8E9DEE"/>
                </a:solidFill>
                <a:latin typeface="Consolas"/>
                <a:ea typeface="Consolas"/>
                <a:cs typeface="Consolas"/>
                <a:sym typeface="Consolas"/>
              </a:rPr>
              <a:t>blockers: </a:t>
            </a:r>
            <a:r>
              <a:rPr b="0" i="0" lang="en-US" sz="1200" u="none" cap="none" strike="noStrike">
                <a:solidFill>
                  <a:srgbClr val="ECEFFF"/>
                </a:solidFill>
                <a:latin typeface="Consolas"/>
                <a:ea typeface="Consolas"/>
                <a:cs typeface="Consolas"/>
                <a:sym typeface="Consolas"/>
              </a:rPr>
              <a:t>[issue, owner, since]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5000"/>
              </a:lnSpc>
              <a:spcBef>
                <a:spcPts val="0"/>
              </a:spcBef>
              <a:spcAft>
                <a:spcPts val="0"/>
              </a:spcAft>
              <a:buClr>
                <a:srgbClr val="8E9DEE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8E9DEE"/>
                </a:solidFill>
                <a:latin typeface="Consolas"/>
                <a:ea typeface="Consolas"/>
                <a:cs typeface="Consolas"/>
                <a:sym typeface="Consolas"/>
              </a:rPr>
              <a:t>next_milestone: </a:t>
            </a:r>
            <a:r>
              <a:rPr b="0" i="0" lang="en-US" sz="1200" u="none" cap="none" strike="noStrike">
                <a:solidFill>
                  <a:srgbClr val="ECEFFF"/>
                </a:solidFill>
                <a:latin typeface="Consolas"/>
                <a:ea typeface="Consolas"/>
                <a:cs typeface="Consolas"/>
                <a:sym typeface="Consolas"/>
              </a:rPr>
              <a:t>{label, date}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5000"/>
              </a:lnSpc>
              <a:spcBef>
                <a:spcPts val="0"/>
              </a:spcBef>
              <a:spcAft>
                <a:spcPts val="0"/>
              </a:spcAft>
              <a:buClr>
                <a:srgbClr val="8E9DEE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8E9DEE"/>
                </a:solidFill>
                <a:latin typeface="Consolas"/>
                <a:ea typeface="Consolas"/>
                <a:cs typeface="Consolas"/>
                <a:sym typeface="Consolas"/>
              </a:rPr>
              <a:t>decisions: </a:t>
            </a:r>
            <a:r>
              <a:rPr b="0" i="0" lang="en-US" sz="1200" u="none" cap="none" strike="noStrike">
                <a:solidFill>
                  <a:srgbClr val="ECEFFF"/>
                </a:solidFill>
                <a:latin typeface="Consolas"/>
                <a:ea typeface="Consolas"/>
                <a:cs typeface="Consolas"/>
                <a:sym typeface="Consolas"/>
              </a:rPr>
              <a:t>[decision, date, by]</a:t>
            </a:r>
            <a:r>
              <a:rPr b="0" i="0" lang="en-US" sz="1200" u="none" cap="none" strike="noStrike">
                <a:solidFill>
                  <a:srgbClr val="6B78C8"/>
                </a:solidFill>
                <a:latin typeface="Consolas"/>
                <a:ea typeface="Consolas"/>
                <a:cs typeface="Consolas"/>
                <a:sym typeface="Consolas"/>
              </a:rPr>
              <a:t>  # stop evaporating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5000"/>
              </a:lnSpc>
              <a:spcBef>
                <a:spcPts val="0"/>
              </a:spcBef>
              <a:spcAft>
                <a:spcPts val="0"/>
              </a:spcAft>
              <a:buClr>
                <a:srgbClr val="8E9DEE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8E9DEE"/>
                </a:solidFill>
                <a:latin typeface="Consolas"/>
                <a:ea typeface="Consolas"/>
                <a:cs typeface="Consolas"/>
                <a:sym typeface="Consolas"/>
              </a:rPr>
              <a:t>links: </a:t>
            </a:r>
            <a:r>
              <a:rPr b="0" i="0" lang="en-US" sz="1200" u="none" cap="none" strike="noStrike">
                <a:solidFill>
                  <a:srgbClr val="ECEFFF"/>
                </a:solidFill>
                <a:latin typeface="Consolas"/>
                <a:ea typeface="Consolas"/>
                <a:cs typeface="Consolas"/>
                <a:sym typeface="Consolas"/>
              </a:rPr>
              <a:t>{spec, jira, slack}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5000"/>
              </a:lnSpc>
              <a:spcBef>
                <a:spcPts val="0"/>
              </a:spcBef>
              <a:spcAft>
                <a:spcPts val="0"/>
              </a:spcAft>
              <a:buClr>
                <a:srgbClr val="8E9DEE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8E9DEE"/>
                </a:solidFill>
                <a:latin typeface="Consolas"/>
                <a:ea typeface="Consolas"/>
                <a:cs typeface="Consolas"/>
                <a:sym typeface="Consolas"/>
              </a:rPr>
              <a:t>updated_at: </a:t>
            </a:r>
            <a:r>
              <a:rPr b="0" i="0" lang="en-US" sz="1200" u="none" cap="none" strike="noStrike">
                <a:solidFill>
                  <a:srgbClr val="ECEFFF"/>
                </a:solidFill>
                <a:latin typeface="Consolas"/>
                <a:ea typeface="Consolas"/>
                <a:cs typeface="Consolas"/>
                <a:sym typeface="Consolas"/>
              </a:rPr>
              <a:t>2026-06-02</a:t>
            </a:r>
            <a:r>
              <a:rPr b="0" i="0" lang="en-US" sz="1200" u="none" cap="none" strike="noStrike">
                <a:solidFill>
                  <a:srgbClr val="6B78C8"/>
                </a:solidFill>
                <a:latin typeface="Consolas"/>
                <a:ea typeface="Consolas"/>
                <a:cs typeface="Consolas"/>
                <a:sym typeface="Consolas"/>
              </a:rPr>
              <a:t>  # freshness is computable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85000"/>
              </a:lnSpc>
              <a:spcBef>
                <a:spcPts val="0"/>
              </a:spcBef>
              <a:spcAft>
                <a:spcPts val="0"/>
              </a:spcAft>
              <a:buClr>
                <a:srgbClr val="8E9DEE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8E9DEE"/>
                </a:solidFill>
                <a:latin typeface="Consolas"/>
                <a:ea typeface="Consolas"/>
                <a:cs typeface="Consolas"/>
                <a:sym typeface="Consolas"/>
              </a:rPr>
              <a:t>confidence: </a:t>
            </a:r>
            <a:r>
              <a:rPr b="0" i="0" lang="en-US" sz="1200" u="none" cap="none" strike="noStrike">
                <a:solidFill>
                  <a:srgbClr val="ECEFFF"/>
                </a:solidFill>
                <a:latin typeface="Consolas"/>
                <a:ea typeface="Consolas"/>
                <a:cs typeface="Consolas"/>
                <a:sym typeface="Consolas"/>
              </a:rPr>
              <a:t>confirmed | needs_human_confirm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6080760" y="1371600"/>
            <a:ext cx="5623560" cy="1152144"/>
          </a:xfrm>
          <a:prstGeom prst="rect">
            <a:avLst/>
          </a:prstGeom>
          <a:solidFill>
            <a:srgbClr val="F7F8FB"/>
          </a:solidFill>
          <a:ln cap="flat" cmpd="sng" w="12700">
            <a:solidFill>
              <a:srgbClr val="E3E5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7"/>
          <p:cNvSpPr/>
          <p:nvPr/>
        </p:nvSpPr>
        <p:spPr>
          <a:xfrm>
            <a:off x="6281928" y="1463040"/>
            <a:ext cx="522122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350"/>
              <a:buFont typeface="Trebuchet MS"/>
              <a:buNone/>
            </a:pPr>
            <a:r>
              <a:rPr b="1" i="0" lang="en-US" sz="1350" u="none" cap="none" strike="noStrike">
                <a:solidFill>
                  <a:srgbClr val="16163F"/>
                </a:solidFill>
                <a:latin typeface="Trebuchet MS"/>
                <a:ea typeface="Trebuchet MS"/>
                <a:cs typeface="Trebuchet MS"/>
                <a:sym typeface="Trebuchet MS"/>
              </a:rPr>
              <a:t>Structured, not prose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6281928" y="1773936"/>
            <a:ext cx="5221224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6B8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6B86"/>
                </a:solidFill>
                <a:latin typeface="Calibri"/>
                <a:ea typeface="Calibri"/>
                <a:cs typeface="Calibri"/>
                <a:sym typeface="Calibri"/>
              </a:rPr>
              <a:t>A spec is written once and abandoned. A record is data </a:t>
            </a:r>
            <a:r>
              <a:rPr lang="en-US" sz="1200">
                <a:solidFill>
                  <a:srgbClr val="646B86"/>
                </a:solidFill>
                <a:latin typeface="Calibri"/>
                <a:ea typeface="Calibri"/>
                <a:cs typeface="Calibri"/>
                <a:sym typeface="Calibri"/>
              </a:rPr>
              <a:t>that is</a:t>
            </a:r>
            <a:r>
              <a:rPr b="0" i="0" lang="en-US" sz="1200" u="none" cap="none" strike="noStrike">
                <a:solidFill>
                  <a:srgbClr val="646B86"/>
                </a:solidFill>
                <a:latin typeface="Calibri"/>
                <a:ea typeface="Calibri"/>
                <a:cs typeface="Calibri"/>
                <a:sym typeface="Calibri"/>
              </a:rPr>
              <a:t> queryable, reusable, versionable.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6080760" y="2615184"/>
            <a:ext cx="5623560" cy="1152144"/>
          </a:xfrm>
          <a:prstGeom prst="rect">
            <a:avLst/>
          </a:prstGeom>
          <a:solidFill>
            <a:srgbClr val="F7F8FB"/>
          </a:solidFill>
          <a:ln cap="flat" cmpd="sng" w="12700">
            <a:solidFill>
              <a:srgbClr val="E3E5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7"/>
          <p:cNvSpPr/>
          <p:nvPr/>
        </p:nvSpPr>
        <p:spPr>
          <a:xfrm>
            <a:off x="6281928" y="2706624"/>
            <a:ext cx="522122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350"/>
              <a:buFont typeface="Trebuchet MS"/>
              <a:buNone/>
            </a:pPr>
            <a:r>
              <a:rPr b="1" i="0" lang="en-US" sz="1350" u="none" cap="none" strike="noStrike">
                <a:solidFill>
                  <a:srgbClr val="16163F"/>
                </a:solidFill>
                <a:latin typeface="Trebuchet MS"/>
                <a:ea typeface="Trebuchet MS"/>
                <a:cs typeface="Trebuchet MS"/>
                <a:sym typeface="Trebuchet MS"/>
              </a:rPr>
              <a:t>Layers on the PDLC they already adopted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6281928" y="3017520"/>
            <a:ext cx="5221224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6B8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6B86"/>
                </a:solidFill>
                <a:latin typeface="Calibri"/>
                <a:ea typeface="Calibri"/>
                <a:cs typeface="Calibri"/>
                <a:sym typeface="Calibri"/>
              </a:rPr>
              <a:t>Stages map 1:1 to existing Jira statuses; the record lives in Notion. No new tool </a:t>
            </a:r>
            <a:r>
              <a:rPr lang="en-US" sz="1200">
                <a:solidFill>
                  <a:srgbClr val="646B86"/>
                </a:solidFill>
                <a:latin typeface="Calibri"/>
                <a:ea typeface="Calibri"/>
                <a:cs typeface="Calibri"/>
                <a:sym typeface="Calibri"/>
              </a:rPr>
              <a:t>because</a:t>
            </a:r>
            <a:r>
              <a:rPr b="0" i="0" lang="en-US" sz="1200" u="none" cap="none" strike="noStrike">
                <a:solidFill>
                  <a:srgbClr val="646B86"/>
                </a:solidFill>
                <a:latin typeface="Calibri"/>
                <a:ea typeface="Calibri"/>
                <a:cs typeface="Calibri"/>
                <a:sym typeface="Calibri"/>
              </a:rPr>
              <a:t> Claude keeps it current from Jira &amp; Slack via connectors.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6080760" y="3858768"/>
            <a:ext cx="5623560" cy="1152144"/>
          </a:xfrm>
          <a:prstGeom prst="rect">
            <a:avLst/>
          </a:prstGeom>
          <a:solidFill>
            <a:srgbClr val="F7F8FB"/>
          </a:solidFill>
          <a:ln cap="flat" cmpd="sng" w="12700">
            <a:solidFill>
              <a:srgbClr val="E3E5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7"/>
          <p:cNvSpPr/>
          <p:nvPr/>
        </p:nvSpPr>
        <p:spPr>
          <a:xfrm>
            <a:off x="6281928" y="3950208"/>
            <a:ext cx="522122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350"/>
              <a:buFont typeface="Trebuchet MS"/>
              <a:buNone/>
            </a:pPr>
            <a:r>
              <a:rPr b="1" i="0" lang="en-US" sz="1350" u="none" cap="none" strike="noStrike">
                <a:solidFill>
                  <a:srgbClr val="16163F"/>
                </a:solidFill>
                <a:latin typeface="Trebuchet MS"/>
                <a:ea typeface="Trebuchet MS"/>
                <a:cs typeface="Trebuchet MS"/>
                <a:sym typeface="Trebuchet MS"/>
              </a:rPr>
              <a:t>Self-instrumenting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6281928" y="4261104"/>
            <a:ext cx="5221224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6B8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6B86"/>
                </a:solidFill>
                <a:latin typeface="Calibri"/>
                <a:ea typeface="Calibri"/>
                <a:cs typeface="Calibri"/>
                <a:sym typeface="Calibri"/>
              </a:rPr>
              <a:t>Freshness, coverage, and adoption are computed from the records themselves. The system measures its own success.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6080760" y="5102352"/>
            <a:ext cx="5623560" cy="1152144"/>
          </a:xfrm>
          <a:prstGeom prst="rect">
            <a:avLst/>
          </a:prstGeom>
          <a:solidFill>
            <a:srgbClr val="EBEBFF"/>
          </a:solidFill>
          <a:ln cap="flat" cmpd="sng" w="12700">
            <a:solidFill>
              <a:srgbClr val="000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7"/>
          <p:cNvSpPr/>
          <p:nvPr/>
        </p:nvSpPr>
        <p:spPr>
          <a:xfrm>
            <a:off x="6281928" y="5193792"/>
            <a:ext cx="522122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0"/>
              </a:buClr>
              <a:buSzPts val="1350"/>
              <a:buFont typeface="Trebuchet MS"/>
              <a:buNone/>
            </a:pPr>
            <a:r>
              <a:rPr b="1" i="0" lang="en-US" sz="1350" u="none" cap="none" strike="noStrike">
                <a:solidFill>
                  <a:srgbClr val="0000F0"/>
                </a:solidFill>
                <a:latin typeface="Trebuchet MS"/>
                <a:ea typeface="Trebuchet MS"/>
                <a:cs typeface="Trebuchet MS"/>
                <a:sym typeface="Trebuchet MS"/>
              </a:rPr>
              <a:t>The confidence field is the trust boundary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6281928" y="5504688"/>
            <a:ext cx="5221224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6B8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6B86"/>
                </a:solidFill>
                <a:latin typeface="Calibri"/>
                <a:ea typeface="Calibri"/>
                <a:cs typeface="Calibri"/>
                <a:sym typeface="Calibri"/>
              </a:rPr>
              <a:t>AI drafts; a human owns the truth. Anything inferred is flagged before leadership ever reads it.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8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0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0000F0"/>
                </a:solidFill>
                <a:latin typeface="Trebuchet MS"/>
                <a:ea typeface="Trebuchet MS"/>
                <a:cs typeface="Trebuchet MS"/>
                <a:sym typeface="Trebuchet MS"/>
              </a:rPr>
              <a:t>ADOPTION IN A SKEPTICAL PM ORG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502920" y="530352"/>
            <a:ext cx="11155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16163F"/>
                </a:solidFill>
                <a:latin typeface="Trebuchet MS"/>
                <a:ea typeface="Trebuchet MS"/>
                <a:cs typeface="Trebuchet MS"/>
                <a:sym typeface="Trebuchet MS"/>
              </a:rPr>
              <a:t>Rollout: a pilot that sells itself, not a mandate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6B8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6B86"/>
                </a:solidFill>
                <a:latin typeface="Calibri"/>
                <a:ea typeface="Calibri"/>
                <a:cs typeface="Calibri"/>
                <a:sym typeface="Calibri"/>
              </a:rPr>
              <a:t>Initiative Pulse  ·  JKLM Product Operations Assessment  ·  Abel Pena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11384280" y="647395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6B8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6B86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502920" y="1371600"/>
            <a:ext cx="3291840" cy="969264"/>
          </a:xfrm>
          <a:prstGeom prst="rect">
            <a:avLst/>
          </a:prstGeom>
          <a:solidFill>
            <a:srgbClr val="FDF2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8"/>
          <p:cNvSpPr/>
          <p:nvPr/>
        </p:nvSpPr>
        <p:spPr>
          <a:xfrm>
            <a:off x="685800" y="1371600"/>
            <a:ext cx="3017520" cy="9692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6200"/>
              </a:buClr>
              <a:buSzPts val="1300"/>
              <a:buFont typeface="Calibri"/>
              <a:buNone/>
            </a:pPr>
            <a:r>
              <a:rPr b="1" i="1" lang="en-US" sz="1300" u="none" cap="none" strike="noStrike">
                <a:solidFill>
                  <a:srgbClr val="9A6200"/>
                </a:solidFill>
                <a:latin typeface="Calibri"/>
                <a:ea typeface="Calibri"/>
                <a:cs typeface="Calibri"/>
                <a:sym typeface="Calibri"/>
              </a:rPr>
              <a:t>“Another process tax.”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3840480" y="1371600"/>
            <a:ext cx="411480" cy="9692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F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4297680" y="1371600"/>
            <a:ext cx="7406640" cy="969264"/>
          </a:xfrm>
          <a:prstGeom prst="rect">
            <a:avLst/>
          </a:prstGeom>
          <a:solidFill>
            <a:srgbClr val="F7F8FB"/>
          </a:solidFill>
          <a:ln cap="flat" cmpd="sng" w="12700">
            <a:solidFill>
              <a:srgbClr val="E3E5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8"/>
          <p:cNvSpPr/>
          <p:nvPr/>
        </p:nvSpPr>
        <p:spPr>
          <a:xfrm>
            <a:off x="4498848" y="1371600"/>
            <a:ext cx="6995160" cy="9692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6163F"/>
                </a:solidFill>
                <a:latin typeface="Calibri"/>
                <a:ea typeface="Calibri"/>
                <a:cs typeface="Calibri"/>
                <a:sym typeface="Calibri"/>
              </a:rPr>
              <a:t>PMs give less, not more — a 2-minute AI-prefilled update replaces the weekly Slack interrogation. Net time returned.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502920" y="2450592"/>
            <a:ext cx="3291840" cy="969264"/>
          </a:xfrm>
          <a:prstGeom prst="rect">
            <a:avLst/>
          </a:prstGeom>
          <a:solidFill>
            <a:srgbClr val="FDF2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8"/>
          <p:cNvSpPr/>
          <p:nvPr/>
        </p:nvSpPr>
        <p:spPr>
          <a:xfrm>
            <a:off x="685800" y="2450592"/>
            <a:ext cx="3017520" cy="9692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6200"/>
              </a:buClr>
              <a:buSzPts val="1300"/>
              <a:buFont typeface="Calibri"/>
              <a:buNone/>
            </a:pPr>
            <a:r>
              <a:rPr b="1" i="1" lang="en-US" sz="1300" u="none" cap="none" strike="noStrike">
                <a:solidFill>
                  <a:srgbClr val="9A6200"/>
                </a:solidFill>
                <a:latin typeface="Calibri"/>
                <a:ea typeface="Calibri"/>
                <a:cs typeface="Calibri"/>
                <a:sym typeface="Calibri"/>
              </a:rPr>
              <a:t>“Big-bang rollouts die here.”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3840480" y="2450592"/>
            <a:ext cx="411480" cy="9692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F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4297680" y="2450592"/>
            <a:ext cx="7406640" cy="969264"/>
          </a:xfrm>
          <a:prstGeom prst="rect">
            <a:avLst/>
          </a:prstGeom>
          <a:solidFill>
            <a:srgbClr val="F7F8FB"/>
          </a:solidFill>
          <a:ln cap="flat" cmpd="sng" w="12700">
            <a:solidFill>
              <a:srgbClr val="E3E5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8"/>
          <p:cNvSpPr/>
          <p:nvPr/>
        </p:nvSpPr>
        <p:spPr>
          <a:xfrm>
            <a:off x="4498848" y="2450592"/>
            <a:ext cx="6995160" cy="9692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6163F"/>
                </a:solidFill>
                <a:latin typeface="Calibri"/>
                <a:ea typeface="Calibri"/>
                <a:cs typeface="Calibri"/>
                <a:sym typeface="Calibri"/>
              </a:rPr>
              <a:t>Pilot with 1–2 mission teams for 2–3 weeks. I personally absorb setup friction and measure hours saved. The result recruits the next team.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502920" y="3529584"/>
            <a:ext cx="3291840" cy="969264"/>
          </a:xfrm>
          <a:prstGeom prst="rect">
            <a:avLst/>
          </a:prstGeom>
          <a:solidFill>
            <a:srgbClr val="FDF2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8"/>
          <p:cNvSpPr/>
          <p:nvPr/>
        </p:nvSpPr>
        <p:spPr>
          <a:xfrm>
            <a:off x="685800" y="3529584"/>
            <a:ext cx="3017520" cy="9692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6200"/>
              </a:buClr>
              <a:buSzPts val="1300"/>
              <a:buFont typeface="Calibri"/>
              <a:buNone/>
            </a:pPr>
            <a:r>
              <a:rPr b="1" i="1" lang="en-US" sz="1300" u="none" cap="none" strike="noStrike">
                <a:solidFill>
                  <a:srgbClr val="9A6200"/>
                </a:solidFill>
                <a:latin typeface="Calibri"/>
                <a:ea typeface="Calibri"/>
                <a:cs typeface="Calibri"/>
                <a:sym typeface="Calibri"/>
              </a:rPr>
              <a:t>“People revert to old habits.”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3840480" y="3529584"/>
            <a:ext cx="411480" cy="9692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F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4297680" y="3529584"/>
            <a:ext cx="7406640" cy="969264"/>
          </a:xfrm>
          <a:prstGeom prst="rect">
            <a:avLst/>
          </a:prstGeom>
          <a:solidFill>
            <a:srgbClr val="F7F8FB"/>
          </a:solidFill>
          <a:ln cap="flat" cmpd="sng" w="12700">
            <a:solidFill>
              <a:srgbClr val="E3E5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8"/>
          <p:cNvSpPr/>
          <p:nvPr/>
        </p:nvSpPr>
        <p:spPr>
          <a:xfrm>
            <a:off x="4498848" y="3529584"/>
            <a:ext cx="6995160" cy="9692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6163F"/>
                </a:solidFill>
                <a:latin typeface="Calibri"/>
                <a:ea typeface="Calibri"/>
                <a:cs typeface="Calibri"/>
                <a:sym typeface="Calibri"/>
              </a:rPr>
              <a:t>Make the default path the easy path: AI pre-fills from Jira/Slack, so the structured update is faster than the freeform one it replaces.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502920" y="4608576"/>
            <a:ext cx="3291840" cy="969264"/>
          </a:xfrm>
          <a:prstGeom prst="rect">
            <a:avLst/>
          </a:prstGeom>
          <a:solidFill>
            <a:srgbClr val="FDF2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8"/>
          <p:cNvSpPr/>
          <p:nvPr/>
        </p:nvSpPr>
        <p:spPr>
          <a:xfrm>
            <a:off x="685800" y="4608576"/>
            <a:ext cx="3017520" cy="9692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6200"/>
              </a:buClr>
              <a:buSzPts val="1300"/>
              <a:buFont typeface="Calibri"/>
              <a:buNone/>
            </a:pPr>
            <a:r>
              <a:rPr b="1" i="1" lang="en-US" sz="1300" u="none" cap="none" strike="noStrike">
                <a:solidFill>
                  <a:srgbClr val="9A6200"/>
                </a:solidFill>
                <a:latin typeface="Calibri"/>
                <a:ea typeface="Calibri"/>
                <a:cs typeface="Calibri"/>
                <a:sym typeface="Calibri"/>
              </a:rPr>
              <a:t>“Leadership will still ping us.”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3840480" y="4608576"/>
            <a:ext cx="411480" cy="9692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F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4297680" y="4608576"/>
            <a:ext cx="7406640" cy="969264"/>
          </a:xfrm>
          <a:prstGeom prst="rect">
            <a:avLst/>
          </a:prstGeom>
          <a:solidFill>
            <a:srgbClr val="F7F8FB"/>
          </a:solidFill>
          <a:ln cap="flat" cmpd="sng" w="12700">
            <a:solidFill>
              <a:srgbClr val="E3E5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8"/>
          <p:cNvSpPr/>
          <p:nvPr/>
        </p:nvSpPr>
        <p:spPr>
          <a:xfrm>
            <a:off x="4498848" y="4608576"/>
            <a:ext cx="6995160" cy="9692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6163F"/>
                </a:solidFill>
                <a:latin typeface="Calibri"/>
                <a:ea typeface="Calibri"/>
                <a:cs typeface="Calibri"/>
                <a:sym typeface="Calibri"/>
              </a:rPr>
              <a:t>Leadership pull, not PM push — once the auto-rollup lands every Monday, demand for manual updates dries up on its own.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502920" y="5715000"/>
            <a:ext cx="3657600" cy="566928"/>
          </a:xfrm>
          <a:prstGeom prst="rect">
            <a:avLst/>
          </a:prstGeom>
          <a:solidFill>
            <a:srgbClr val="EBEB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2" name="Google Shape;25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7512" y="587959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8"/>
          <p:cNvSpPr/>
          <p:nvPr/>
        </p:nvSpPr>
        <p:spPr>
          <a:xfrm>
            <a:off x="1005840" y="5715000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0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0000F0"/>
                </a:solidFill>
                <a:latin typeface="Trebuchet MS"/>
                <a:ea typeface="Trebuchet MS"/>
                <a:cs typeface="Trebuchet MS"/>
                <a:sym typeface="Trebuchet MS"/>
              </a:rPr>
              <a:t>Simplicity  </a:t>
            </a:r>
            <a:r>
              <a:rPr b="0" i="0" lang="en-US" sz="1150" u="none" cap="none" strike="noStrike">
                <a:solidFill>
                  <a:srgbClr val="16163F"/>
                </a:solidFill>
                <a:latin typeface="Calibri"/>
                <a:ea typeface="Calibri"/>
                <a:cs typeface="Calibri"/>
                <a:sym typeface="Calibri"/>
              </a:rPr>
              <a:t>— replace process — don't add it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4270248" y="5715000"/>
            <a:ext cx="3657600" cy="566928"/>
          </a:xfrm>
          <a:prstGeom prst="rect">
            <a:avLst/>
          </a:prstGeom>
          <a:solidFill>
            <a:srgbClr val="EBEB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5" name="Google Shape;25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34840" y="587959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8"/>
          <p:cNvSpPr/>
          <p:nvPr/>
        </p:nvSpPr>
        <p:spPr>
          <a:xfrm>
            <a:off x="4773168" y="5715000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0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0000F0"/>
                </a:solidFill>
                <a:latin typeface="Trebuchet MS"/>
                <a:ea typeface="Trebuchet MS"/>
                <a:cs typeface="Trebuchet MS"/>
                <a:sym typeface="Trebuchet MS"/>
              </a:rPr>
              <a:t>Openness  </a:t>
            </a:r>
            <a:r>
              <a:rPr b="0" i="0" lang="en-US" sz="1150" u="none" cap="none" strike="noStrike">
                <a:solidFill>
                  <a:srgbClr val="16163F"/>
                </a:solidFill>
                <a:latin typeface="Calibri"/>
                <a:ea typeface="Calibri"/>
                <a:cs typeface="Calibri"/>
                <a:sym typeface="Calibri"/>
              </a:rPr>
              <a:t>— status visible to everyone, no gatekeepers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8037576" y="5715000"/>
            <a:ext cx="3657600" cy="566928"/>
          </a:xfrm>
          <a:prstGeom prst="rect">
            <a:avLst/>
          </a:prstGeom>
          <a:solidFill>
            <a:srgbClr val="EBEB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8" name="Google Shape;258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02168" y="587959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8"/>
          <p:cNvSpPr/>
          <p:nvPr/>
        </p:nvSpPr>
        <p:spPr>
          <a:xfrm>
            <a:off x="8540496" y="5715000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0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0000F0"/>
                </a:solidFill>
                <a:latin typeface="Trebuchet MS"/>
                <a:ea typeface="Trebuchet MS"/>
                <a:cs typeface="Trebuchet MS"/>
                <a:sym typeface="Trebuchet MS"/>
              </a:rPr>
              <a:t>Grit  </a:t>
            </a:r>
            <a:r>
              <a:rPr b="0" i="0" lang="en-US" sz="1150" u="none" cap="none" strike="noStrike">
                <a:solidFill>
                  <a:srgbClr val="16163F"/>
                </a:solidFill>
                <a:latin typeface="Calibri"/>
                <a:ea typeface="Calibri"/>
                <a:cs typeface="Calibri"/>
                <a:sym typeface="Calibri"/>
              </a:rPr>
              <a:t>— I own the rollout friction myself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9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0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0000F0"/>
                </a:solidFill>
                <a:latin typeface="Trebuchet MS"/>
                <a:ea typeface="Trebuchet MS"/>
                <a:cs typeface="Trebuchet MS"/>
                <a:sym typeface="Trebuchet MS"/>
              </a:rPr>
              <a:t>SUCCESS CRITERIA · THE SYSTEM REPORTS ON ITSELF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502920" y="530352"/>
            <a:ext cx="11155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16163F"/>
                </a:solidFill>
                <a:latin typeface="Trebuchet MS"/>
                <a:ea typeface="Trebuchet MS"/>
                <a:cs typeface="Trebuchet MS"/>
                <a:sym typeface="Trebuchet MS"/>
              </a:rPr>
              <a:t>Measured without a manual audit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6B8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6B86"/>
                </a:solidFill>
                <a:latin typeface="Calibri"/>
                <a:ea typeface="Calibri"/>
                <a:cs typeface="Calibri"/>
                <a:sym typeface="Calibri"/>
              </a:rPr>
              <a:t>Initiative Pulse  ·  JKLM Product Operations Assessment  ·  Abel Pena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11384280" y="647395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6B8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6B86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502920" y="1554480"/>
            <a:ext cx="2167128" cy="2286000"/>
          </a:xfrm>
          <a:prstGeom prst="rect">
            <a:avLst/>
          </a:prstGeom>
          <a:solidFill>
            <a:srgbClr val="15246D"/>
          </a:solidFill>
          <a:ln cap="flat" cmpd="sng" w="12700">
            <a:solidFill>
              <a:srgbClr val="15246D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1A2B3C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9"/>
          <p:cNvSpPr/>
          <p:nvPr/>
        </p:nvSpPr>
        <p:spPr>
          <a:xfrm>
            <a:off x="667512" y="1828800"/>
            <a:ext cx="183794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Trebuchet MS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 hrs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667512" y="2514600"/>
            <a:ext cx="183794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2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DCE2FF"/>
                </a:solidFill>
                <a:latin typeface="Trebuchet MS"/>
                <a:ea typeface="Trebuchet MS"/>
                <a:cs typeface="Trebuchet MS"/>
                <a:sym typeface="Trebuchet MS"/>
              </a:rPr>
              <a:t>Weekly compile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667512" y="2852928"/>
            <a:ext cx="1837944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9D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C99D6"/>
                </a:solidFill>
                <a:latin typeface="Calibri"/>
                <a:ea typeface="Calibri"/>
                <a:cs typeface="Calibri"/>
                <a:sym typeface="Calibri"/>
              </a:rPr>
              <a:t>2–3 hrs of manual collation → generated from the records instead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2761488" y="1554480"/>
            <a:ext cx="2167128" cy="2286000"/>
          </a:xfrm>
          <a:prstGeom prst="rect">
            <a:avLst/>
          </a:prstGeom>
          <a:solidFill>
            <a:srgbClr val="F7F8FB"/>
          </a:solidFill>
          <a:ln cap="flat" cmpd="sng" w="12700">
            <a:solidFill>
              <a:srgbClr val="E3E5E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1A2B3C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9"/>
          <p:cNvSpPr/>
          <p:nvPr/>
        </p:nvSpPr>
        <p:spPr>
          <a:xfrm>
            <a:off x="2926080" y="1828800"/>
            <a:ext cx="183794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0"/>
              </a:buClr>
              <a:buSzPts val="2700"/>
              <a:buFont typeface="Trebuchet MS"/>
              <a:buNone/>
            </a:pPr>
            <a:r>
              <a:rPr b="1" i="0" lang="en-US" sz="2700" u="none" cap="none" strike="noStrike">
                <a:solidFill>
                  <a:srgbClr val="0000F0"/>
                </a:solidFill>
                <a:latin typeface="Trebuchet MS"/>
                <a:ea typeface="Trebuchet MS"/>
                <a:cs typeface="Trebuchet MS"/>
                <a:sym typeface="Trebuchet MS"/>
              </a:rPr>
              <a:t>&lt; 5 min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2926080" y="2514600"/>
            <a:ext cx="183794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16163F"/>
                </a:solidFill>
                <a:latin typeface="Trebuchet MS"/>
                <a:ea typeface="Trebuchet MS"/>
                <a:cs typeface="Trebuchet MS"/>
                <a:sym typeface="Trebuchet MS"/>
              </a:rPr>
              <a:t>PM update time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2926080" y="2852928"/>
            <a:ext cx="1837944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6B8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6B86"/>
                </a:solidFill>
                <a:latin typeface="Calibri"/>
                <a:ea typeface="Calibri"/>
                <a:cs typeface="Calibri"/>
                <a:sym typeface="Calibri"/>
              </a:rPr>
              <a:t>per initiative, AI-prefilled — tracked per record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5020056" y="1554480"/>
            <a:ext cx="2167128" cy="2286000"/>
          </a:xfrm>
          <a:prstGeom prst="rect">
            <a:avLst/>
          </a:prstGeom>
          <a:solidFill>
            <a:srgbClr val="F7F8FB"/>
          </a:solidFill>
          <a:ln cap="flat" cmpd="sng" w="12700">
            <a:solidFill>
              <a:srgbClr val="E3E5E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1A2B3C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9"/>
          <p:cNvSpPr/>
          <p:nvPr/>
        </p:nvSpPr>
        <p:spPr>
          <a:xfrm>
            <a:off x="5184648" y="1828800"/>
            <a:ext cx="183794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0"/>
              </a:buClr>
              <a:buSzPts val="2700"/>
              <a:buFont typeface="Trebuchet MS"/>
              <a:buNone/>
            </a:pPr>
            <a:r>
              <a:rPr b="1" i="0" lang="en-US" sz="2700" u="none" cap="none" strike="noStrike">
                <a:solidFill>
                  <a:srgbClr val="0000F0"/>
                </a:solidFill>
                <a:latin typeface="Trebuchet MS"/>
                <a:ea typeface="Trebuchet MS"/>
                <a:cs typeface="Trebuchet MS"/>
                <a:sym typeface="Trebuchet MS"/>
              </a:rPr>
              <a:t>86%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5184648" y="2514600"/>
            <a:ext cx="183794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16163F"/>
                </a:solidFill>
                <a:latin typeface="Trebuchet MS"/>
                <a:ea typeface="Trebuchet MS"/>
                <a:cs typeface="Trebuchet MS"/>
                <a:sym typeface="Trebuchet MS"/>
              </a:rPr>
              <a:t>Freshness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5184648" y="2852928"/>
            <a:ext cx="1837944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6B8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6B86"/>
                </a:solidFill>
                <a:latin typeface="Calibri"/>
                <a:ea typeface="Calibri"/>
                <a:cs typeface="Calibri"/>
                <a:sym typeface="Calibri"/>
              </a:rPr>
              <a:t>% updated in last 7 days — the dashboard computes it live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7278624" y="1554480"/>
            <a:ext cx="2167128" cy="2286000"/>
          </a:xfrm>
          <a:prstGeom prst="rect">
            <a:avLst/>
          </a:prstGeom>
          <a:solidFill>
            <a:srgbClr val="F7F8FB"/>
          </a:solidFill>
          <a:ln cap="flat" cmpd="sng" w="12700">
            <a:solidFill>
              <a:srgbClr val="E3E5E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1A2B3C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9"/>
          <p:cNvSpPr/>
          <p:nvPr/>
        </p:nvSpPr>
        <p:spPr>
          <a:xfrm>
            <a:off x="7443216" y="1828800"/>
            <a:ext cx="183794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0"/>
              </a:buClr>
              <a:buSzPts val="2700"/>
              <a:buFont typeface="Trebuchet MS"/>
              <a:buNone/>
            </a:pPr>
            <a:r>
              <a:rPr b="1" i="0" lang="en-US" sz="2700" u="none" cap="none" strike="noStrike">
                <a:solidFill>
                  <a:srgbClr val="0000F0"/>
                </a:solidFill>
                <a:latin typeface="Trebuchet MS"/>
                <a:ea typeface="Trebuchet MS"/>
                <a:cs typeface="Trebuchet MS"/>
                <a:sym typeface="Trebuchet MS"/>
              </a:rPr>
              <a:t>100%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9"/>
          <p:cNvSpPr/>
          <p:nvPr/>
        </p:nvSpPr>
        <p:spPr>
          <a:xfrm>
            <a:off x="7443216" y="2514600"/>
            <a:ext cx="183794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16163F"/>
                </a:solidFill>
                <a:latin typeface="Trebuchet MS"/>
                <a:ea typeface="Trebuchet MS"/>
                <a:cs typeface="Trebuchet MS"/>
                <a:sym typeface="Trebuchet MS"/>
              </a:rPr>
              <a:t>Coverage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9"/>
          <p:cNvSpPr/>
          <p:nvPr/>
        </p:nvSpPr>
        <p:spPr>
          <a:xfrm>
            <a:off x="7443216" y="2852928"/>
            <a:ext cx="1837944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6B8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6B86"/>
                </a:solidFill>
                <a:latin typeface="Calibri"/>
                <a:ea typeface="Calibri"/>
                <a:cs typeface="Calibri"/>
                <a:sym typeface="Calibri"/>
              </a:rPr>
              <a:t>% of active initiatives with a complete structured record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9"/>
          <p:cNvSpPr/>
          <p:nvPr/>
        </p:nvSpPr>
        <p:spPr>
          <a:xfrm>
            <a:off x="9537192" y="1554480"/>
            <a:ext cx="2167128" cy="2286000"/>
          </a:xfrm>
          <a:prstGeom prst="rect">
            <a:avLst/>
          </a:prstGeom>
          <a:solidFill>
            <a:srgbClr val="F7F8FB"/>
          </a:solidFill>
          <a:ln cap="flat" cmpd="sng" w="12700">
            <a:solidFill>
              <a:srgbClr val="E3E5E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1A2B3C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9"/>
          <p:cNvSpPr/>
          <p:nvPr/>
        </p:nvSpPr>
        <p:spPr>
          <a:xfrm>
            <a:off x="9701784" y="1828800"/>
            <a:ext cx="183794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0"/>
              </a:buClr>
              <a:buSzPts val="2700"/>
              <a:buFont typeface="Trebuchet MS"/>
              <a:buNone/>
            </a:pPr>
            <a:r>
              <a:rPr b="1" i="0" lang="en-US" sz="2700" u="none" cap="none" strike="noStrike">
                <a:solidFill>
                  <a:srgbClr val="0000F0"/>
                </a:solidFill>
                <a:latin typeface="Trebuchet MS"/>
                <a:ea typeface="Trebuchet MS"/>
                <a:cs typeface="Trebuchet MS"/>
                <a:sym typeface="Trebuchet MS"/>
              </a:rPr>
              <a:t>→ 0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9"/>
          <p:cNvSpPr/>
          <p:nvPr/>
        </p:nvSpPr>
        <p:spPr>
          <a:xfrm>
            <a:off x="9701784" y="2514600"/>
            <a:ext cx="183794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16163F"/>
                </a:solidFill>
                <a:latin typeface="Trebuchet MS"/>
                <a:ea typeface="Trebuchet MS"/>
                <a:cs typeface="Trebuchet MS"/>
                <a:sym typeface="Trebuchet MS"/>
              </a:rPr>
              <a:t>Status pings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9"/>
          <p:cNvSpPr/>
          <p:nvPr/>
        </p:nvSpPr>
        <p:spPr>
          <a:xfrm>
            <a:off x="9701784" y="2852928"/>
            <a:ext cx="1837944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6B8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6B86"/>
                </a:solidFill>
                <a:latin typeface="Calibri"/>
                <a:ea typeface="Calibri"/>
                <a:cs typeface="Calibri"/>
                <a:sym typeface="Calibri"/>
              </a:rPr>
              <a:t>“where's the status?” asks, replaced by dashboard opens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9"/>
          <p:cNvSpPr/>
          <p:nvPr/>
        </p:nvSpPr>
        <p:spPr>
          <a:xfrm>
            <a:off x="502920" y="4343400"/>
            <a:ext cx="11201400" cy="777240"/>
          </a:xfrm>
          <a:prstGeom prst="rect">
            <a:avLst/>
          </a:prstGeom>
          <a:solidFill>
            <a:srgbClr val="EBEB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9"/>
          <p:cNvSpPr/>
          <p:nvPr/>
        </p:nvSpPr>
        <p:spPr>
          <a:xfrm>
            <a:off x="777240" y="4343400"/>
            <a:ext cx="10698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000F0"/>
                </a:solidFill>
                <a:latin typeface="Calibri"/>
                <a:ea typeface="Calibri"/>
                <a:cs typeface="Calibri"/>
                <a:sym typeface="Calibri"/>
              </a:rPr>
              <a:t>Bottom line</a:t>
            </a:r>
            <a:r>
              <a:rPr b="1" i="0" lang="en-US" sz="1300" u="none" cap="none" strike="noStrike">
                <a:solidFill>
                  <a:srgbClr val="0000F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lang="en-US" sz="1300">
                <a:solidFill>
                  <a:srgbClr val="0000F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300" u="none" cap="none" strike="noStrike">
                <a:solidFill>
                  <a:srgbClr val="16163F"/>
                </a:solidFill>
                <a:latin typeface="Calibri"/>
                <a:ea typeface="Calibri"/>
                <a:cs typeface="Calibri"/>
                <a:sym typeface="Calibri"/>
              </a:rPr>
              <a:t>Every number above is read off data the system already holds. Nobody runs a survey, nobody audits adoption</a:t>
            </a:r>
            <a:r>
              <a:rPr lang="en-US" sz="1300">
                <a:solidFill>
                  <a:srgbClr val="1616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0" i="0" lang="en-US" sz="1300" u="none" cap="none" strike="noStrike">
                <a:solidFill>
                  <a:srgbClr val="1616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>
                <a:solidFill>
                  <a:srgbClr val="16163F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i="0" lang="en-US" sz="1300" u="none" cap="none" strike="noStrike">
                <a:solidFill>
                  <a:srgbClr val="16163F"/>
                </a:solidFill>
                <a:latin typeface="Calibri"/>
                <a:ea typeface="Calibri"/>
                <a:cs typeface="Calibri"/>
                <a:sym typeface="Calibri"/>
              </a:rPr>
              <a:t>he freshness and coverage KPIs on the dashboard are the adoption metrics.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9"/>
          <p:cNvSpPr/>
          <p:nvPr/>
        </p:nvSpPr>
        <p:spPr>
          <a:xfrm>
            <a:off x="502920" y="5349240"/>
            <a:ext cx="11201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6B86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46B86"/>
                </a:solidFill>
                <a:latin typeface="Calibri"/>
                <a:ea typeface="Calibri"/>
                <a:cs typeface="Calibri"/>
                <a:sym typeface="Calibri"/>
              </a:rPr>
              <a:t>Pilot exit criteria: 2 teams · 3 weeks · freshness ≥ 80% · compile hours at zero · PMs report net time returned.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0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0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0000F0"/>
                </a:solidFill>
                <a:latin typeface="Trebuchet MS"/>
                <a:ea typeface="Trebuchet MS"/>
                <a:cs typeface="Trebuchet MS"/>
                <a:sym typeface="Trebuchet MS"/>
              </a:rPr>
              <a:t>PROCESS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0"/>
          <p:cNvSpPr/>
          <p:nvPr/>
        </p:nvSpPr>
        <p:spPr>
          <a:xfrm>
            <a:off x="502920" y="530352"/>
            <a:ext cx="11155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16163F"/>
                </a:solidFill>
                <a:latin typeface="Trebuchet MS"/>
                <a:ea typeface="Trebuchet MS"/>
                <a:cs typeface="Trebuchet MS"/>
                <a:sym typeface="Trebuchet MS"/>
              </a:rPr>
              <a:t>How AI factored in — including what broke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6B8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6B86"/>
                </a:solidFill>
                <a:latin typeface="Calibri"/>
                <a:ea typeface="Calibri"/>
                <a:cs typeface="Calibri"/>
                <a:sym typeface="Calibri"/>
              </a:rPr>
              <a:t>Initiative Pulse  ·  JKLM Product Operations Assessment  ·  Abel Pena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0"/>
          <p:cNvSpPr/>
          <p:nvPr/>
        </p:nvSpPr>
        <p:spPr>
          <a:xfrm>
            <a:off x="11384280" y="647395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6B8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6B86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0"/>
          <p:cNvSpPr/>
          <p:nvPr/>
        </p:nvSpPr>
        <p:spPr>
          <a:xfrm>
            <a:off x="502920" y="1417320"/>
            <a:ext cx="457200" cy="457200"/>
          </a:xfrm>
          <a:prstGeom prst="ellipse">
            <a:avLst/>
          </a:prstGeom>
          <a:solidFill>
            <a:srgbClr val="EBEB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2" name="Google Shape;30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2648" y="152704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10"/>
          <p:cNvSpPr/>
          <p:nvPr/>
        </p:nvSpPr>
        <p:spPr>
          <a:xfrm>
            <a:off x="1143000" y="1371600"/>
            <a:ext cx="4754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16163F"/>
                </a:solidFill>
                <a:latin typeface="Trebuchet MS"/>
                <a:ea typeface="Trebuchet MS"/>
                <a:cs typeface="Trebuchet MS"/>
                <a:sym typeface="Trebuchet MS"/>
              </a:rPr>
              <a:t>Diagnosing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0"/>
          <p:cNvSpPr/>
          <p:nvPr/>
        </p:nvSpPr>
        <p:spPr>
          <a:xfrm>
            <a:off x="1143000" y="1682496"/>
            <a:ext cx="4754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6B8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6B86"/>
                </a:solidFill>
                <a:latin typeface="Calibri"/>
                <a:ea typeface="Calibri"/>
                <a:cs typeface="Calibri"/>
                <a:sym typeface="Calibri"/>
              </a:rPr>
              <a:t>Clustered the four symptoms and pressure-tested the “no structured record” root cause against alternatives before committing.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0"/>
          <p:cNvSpPr/>
          <p:nvPr/>
        </p:nvSpPr>
        <p:spPr>
          <a:xfrm>
            <a:off x="502920" y="2898648"/>
            <a:ext cx="457200" cy="457200"/>
          </a:xfrm>
          <a:prstGeom prst="ellipse">
            <a:avLst/>
          </a:prstGeom>
          <a:solidFill>
            <a:srgbClr val="EBEB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6" name="Google Shape;30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2648" y="300837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10"/>
          <p:cNvSpPr/>
          <p:nvPr/>
        </p:nvSpPr>
        <p:spPr>
          <a:xfrm>
            <a:off x="1143000" y="2852928"/>
            <a:ext cx="4754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16163F"/>
                </a:solidFill>
                <a:latin typeface="Trebuchet MS"/>
                <a:ea typeface="Trebuchet MS"/>
                <a:cs typeface="Trebuchet MS"/>
                <a:sym typeface="Trebuchet MS"/>
              </a:rPr>
              <a:t>Building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0"/>
          <p:cNvSpPr/>
          <p:nvPr/>
        </p:nvSpPr>
        <p:spPr>
          <a:xfrm>
            <a:off x="1143000" y="3163824"/>
            <a:ext cx="4754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6B8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6B86"/>
                </a:solidFill>
                <a:latin typeface="Calibri"/>
                <a:ea typeface="Calibri"/>
                <a:cs typeface="Calibri"/>
                <a:sym typeface="Calibri"/>
              </a:rPr>
              <a:t>Schema, both prompts, and the dashboard were drafted and iterated with Claude</a:t>
            </a:r>
            <a:r>
              <a:rPr lang="en-US" sz="1200">
                <a:solidFill>
                  <a:srgbClr val="646B86"/>
                </a:solidFill>
                <a:latin typeface="Calibri"/>
                <a:ea typeface="Calibri"/>
                <a:cs typeface="Calibri"/>
                <a:sym typeface="Calibri"/>
              </a:rPr>
              <a:t>, which is</a:t>
            </a:r>
            <a:r>
              <a:rPr b="0" i="0" lang="en-US" sz="1200" u="none" cap="none" strike="noStrike">
                <a:solidFill>
                  <a:srgbClr val="646B86"/>
                </a:solidFill>
                <a:latin typeface="Calibri"/>
                <a:ea typeface="Calibri"/>
                <a:cs typeface="Calibri"/>
                <a:sym typeface="Calibri"/>
              </a:rPr>
              <a:t> the same way I built spec synthesis and automated reporting at MedPro.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0"/>
          <p:cNvSpPr/>
          <p:nvPr/>
        </p:nvSpPr>
        <p:spPr>
          <a:xfrm>
            <a:off x="502920" y="4379976"/>
            <a:ext cx="457200" cy="457200"/>
          </a:xfrm>
          <a:prstGeom prst="ellipse">
            <a:avLst/>
          </a:prstGeom>
          <a:solidFill>
            <a:srgbClr val="EBEB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0" name="Google Shape;31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2648" y="448970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10"/>
          <p:cNvSpPr/>
          <p:nvPr/>
        </p:nvSpPr>
        <p:spPr>
          <a:xfrm>
            <a:off x="1143000" y="4334256"/>
            <a:ext cx="4754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16163F"/>
                </a:solidFill>
                <a:latin typeface="Trebuchet MS"/>
                <a:ea typeface="Trebuchet MS"/>
                <a:cs typeface="Trebuchet MS"/>
                <a:sym typeface="Trebuchet MS"/>
              </a:rPr>
              <a:t>In the product itself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0"/>
          <p:cNvSpPr/>
          <p:nvPr/>
        </p:nvSpPr>
        <p:spPr>
          <a:xfrm>
            <a:off x="1143000" y="4645152"/>
            <a:ext cx="4754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6B8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6B86"/>
                </a:solidFill>
                <a:latin typeface="Calibri"/>
                <a:ea typeface="Calibri"/>
                <a:cs typeface="Calibri"/>
                <a:sym typeface="Calibri"/>
              </a:rPr>
              <a:t>It embeds AI in the PMs' workflow on the stack they already use</a:t>
            </a:r>
            <a:r>
              <a:rPr lang="en-US" sz="1200">
                <a:solidFill>
                  <a:srgbClr val="646B86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0" i="0" lang="en-US" sz="1200" u="none" cap="none" strike="noStrike">
                <a:solidFill>
                  <a:srgbClr val="646B86"/>
                </a:solidFill>
                <a:latin typeface="Calibri"/>
                <a:ea typeface="Calibri"/>
                <a:cs typeface="Calibri"/>
                <a:sym typeface="Calibri"/>
              </a:rPr>
              <a:t> Claude reads Jira &amp; Slack, writes Notion, posts to Slack, with human checkpoints at each step.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0"/>
          <p:cNvSpPr/>
          <p:nvPr/>
        </p:nvSpPr>
        <p:spPr>
          <a:xfrm>
            <a:off x="6263640" y="1371600"/>
            <a:ext cx="5440680" cy="2084832"/>
          </a:xfrm>
          <a:prstGeom prst="rect">
            <a:avLst/>
          </a:prstGeom>
          <a:solidFill>
            <a:srgbClr val="FBE7E7"/>
          </a:solidFill>
          <a:ln>
            <a:noFill/>
          </a:ln>
          <a:effectLst>
            <a:outerShdw blurRad="88900" rotWithShape="0" algn="bl" dir="8100000" dist="25400">
              <a:srgbClr val="1A2B3C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0"/>
          <p:cNvSpPr/>
          <p:nvPr/>
        </p:nvSpPr>
        <p:spPr>
          <a:xfrm>
            <a:off x="6263640" y="1371600"/>
            <a:ext cx="64008" cy="2084832"/>
          </a:xfrm>
          <a:prstGeom prst="rect">
            <a:avLst/>
          </a:prstGeom>
          <a:solidFill>
            <a:srgbClr val="D23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5" name="Google Shape;31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92240" y="15544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10"/>
          <p:cNvSpPr/>
          <p:nvPr/>
        </p:nvSpPr>
        <p:spPr>
          <a:xfrm>
            <a:off x="6885432" y="1517904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3B3B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D23B3B"/>
                </a:solidFill>
                <a:latin typeface="Trebuchet MS"/>
                <a:ea typeface="Trebuchet MS"/>
                <a:cs typeface="Trebuchet MS"/>
                <a:sym typeface="Trebuchet MS"/>
              </a:rPr>
              <a:t>Where I got stuck: v1 invented a status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0"/>
          <p:cNvSpPr/>
          <p:nvPr/>
        </p:nvSpPr>
        <p:spPr>
          <a:xfrm>
            <a:off x="6885432" y="1901952"/>
            <a:ext cx="45720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6163F"/>
                </a:solidFill>
                <a:latin typeface="Calibri"/>
                <a:ea typeface="Calibri"/>
                <a:cs typeface="Calibri"/>
                <a:sym typeface="Calibri"/>
              </a:rPr>
              <a:t>Fed a thin update</a:t>
            </a:r>
            <a:r>
              <a:rPr lang="en-US" sz="1200">
                <a:solidFill>
                  <a:srgbClr val="16163F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-US" sz="1200" u="none" cap="none" strike="noStrike">
                <a:solidFill>
                  <a:srgbClr val="16163F"/>
                </a:solidFill>
                <a:latin typeface="Calibri"/>
                <a:ea typeface="Calibri"/>
                <a:cs typeface="Calibri"/>
                <a:sym typeface="Calibri"/>
              </a:rPr>
              <a:t> “sam's heads down, think we're fine” the first extraction prompt returned </a:t>
            </a:r>
            <a:r>
              <a:rPr b="0" i="0" lang="en-US" sz="1150" u="none" cap="none" strike="noStrike">
                <a:solidFill>
                  <a:srgbClr val="D23B3B"/>
                </a:solidFill>
                <a:latin typeface="Consolas"/>
                <a:ea typeface="Consolas"/>
                <a:cs typeface="Consolas"/>
                <a:sym typeface="Consolas"/>
              </a:rPr>
              <a:t>rag: green, confidence: confirmed</a:t>
            </a:r>
            <a:r>
              <a:rPr b="0" i="0" lang="en-US" sz="1200" u="none" cap="none" strike="noStrike">
                <a:solidFill>
                  <a:srgbClr val="16163F"/>
                </a:solidFill>
                <a:latin typeface="Calibri"/>
                <a:ea typeface="Calibri"/>
                <a:cs typeface="Calibri"/>
                <a:sym typeface="Calibri"/>
              </a:rPr>
              <a:t>: a fabricated milestone date and a green status no human ever stated. Schema-valid, confidently wrong.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0"/>
          <p:cNvSpPr/>
          <p:nvPr/>
        </p:nvSpPr>
        <p:spPr>
          <a:xfrm>
            <a:off x="6263640" y="3639312"/>
            <a:ext cx="5440680" cy="2084832"/>
          </a:xfrm>
          <a:prstGeom prst="rect">
            <a:avLst/>
          </a:prstGeom>
          <a:solidFill>
            <a:srgbClr val="EBEBFF"/>
          </a:solidFill>
          <a:ln>
            <a:noFill/>
          </a:ln>
          <a:effectLst>
            <a:outerShdw blurRad="88900" rotWithShape="0" algn="bl" dir="8100000" dist="25400">
              <a:srgbClr val="1A2B3C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0"/>
          <p:cNvSpPr/>
          <p:nvPr/>
        </p:nvSpPr>
        <p:spPr>
          <a:xfrm>
            <a:off x="6263640" y="3639312"/>
            <a:ext cx="64008" cy="2084832"/>
          </a:xfrm>
          <a:prstGeom prst="rect">
            <a:avLst/>
          </a:prstGeom>
          <a:solidFill>
            <a:srgbClr val="1A9C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0" name="Google Shape;320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92240" y="382219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10"/>
          <p:cNvSpPr/>
          <p:nvPr/>
        </p:nvSpPr>
        <p:spPr>
          <a:xfrm>
            <a:off x="6885432" y="3785616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F0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0000F0"/>
                </a:solidFill>
                <a:latin typeface="Trebuchet MS"/>
                <a:ea typeface="Trebuchet MS"/>
                <a:cs typeface="Trebuchet MS"/>
                <a:sym typeface="Trebuchet MS"/>
              </a:rPr>
              <a:t>The fix was structural, not a better model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0"/>
          <p:cNvSpPr/>
          <p:nvPr/>
        </p:nvSpPr>
        <p:spPr>
          <a:xfrm>
            <a:off x="6885432" y="4169664"/>
            <a:ext cx="45720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163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6163F"/>
                </a:solidFill>
                <a:latin typeface="Calibri"/>
                <a:ea typeface="Calibri"/>
                <a:cs typeface="Calibri"/>
                <a:sym typeface="Calibri"/>
              </a:rPr>
              <a:t>The prompt rewarded completeness over honesty. New rules: restructure only what's present, never fabricate dates, and stamp </a:t>
            </a:r>
            <a:r>
              <a:rPr b="0" i="0" lang="en-US" sz="1150" u="none" cap="none" strike="noStrike">
                <a:solidFill>
                  <a:srgbClr val="0000F0"/>
                </a:solidFill>
                <a:latin typeface="Consolas"/>
                <a:ea typeface="Consolas"/>
                <a:cs typeface="Consolas"/>
                <a:sym typeface="Consolas"/>
              </a:rPr>
              <a:t>needs_human_confirm</a:t>
            </a:r>
            <a:r>
              <a:rPr b="0" i="0" lang="en-US" sz="1200" u="none" cap="none" strike="noStrike">
                <a:solidFill>
                  <a:srgbClr val="16163F"/>
                </a:solidFill>
                <a:latin typeface="Calibri"/>
                <a:ea typeface="Calibri"/>
                <a:cs typeface="Calibri"/>
                <a:sym typeface="Calibri"/>
              </a:rPr>
              <a:t> on anything inferred</a:t>
            </a:r>
            <a:r>
              <a:rPr lang="en-US" sz="1200">
                <a:solidFill>
                  <a:srgbClr val="1616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0" i="0" lang="en-US" sz="1200" u="none" cap="none" strike="noStrike">
                <a:solidFill>
                  <a:srgbClr val="1616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>
                <a:solidFill>
                  <a:srgbClr val="16163F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b="0" i="0" lang="en-US" sz="1200" u="none" cap="none" strike="noStrike">
                <a:solidFill>
                  <a:srgbClr val="16163F"/>
                </a:solidFill>
                <a:latin typeface="Calibri"/>
                <a:ea typeface="Calibri"/>
                <a:cs typeface="Calibri"/>
                <a:sym typeface="Calibri"/>
              </a:rPr>
              <a:t>ncertainty stays visible on the dashboard (⚑) and in the rollup footer. AI drafts; a human owns the truth.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246D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1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0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9FB0FF"/>
                </a:solidFill>
                <a:latin typeface="Trebuchet MS"/>
                <a:ea typeface="Trebuchet MS"/>
                <a:cs typeface="Trebuchet MS"/>
                <a:sym typeface="Trebuchet MS"/>
              </a:rPr>
              <a:t>WHERE THIS GOES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1"/>
          <p:cNvSpPr/>
          <p:nvPr/>
        </p:nvSpPr>
        <p:spPr>
          <a:xfrm>
            <a:off x="502920" y="530352"/>
            <a:ext cx="11155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Status is the </a:t>
            </a:r>
            <a:r>
              <a:rPr b="1"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entry point</a:t>
            </a:r>
            <a:r>
              <a:rPr b="1" i="0" lang="en-US" sz="2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b="1"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&amp;</a:t>
            </a:r>
            <a:r>
              <a:rPr b="1" i="0" lang="en-US" sz="2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 the record is the platform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1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9D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C99D6"/>
                </a:solidFill>
                <a:latin typeface="Calibri"/>
                <a:ea typeface="Calibri"/>
                <a:cs typeface="Calibri"/>
                <a:sym typeface="Calibri"/>
              </a:rPr>
              <a:t>Initiative Pulse  ·  JKLM Product Operations Assessment  ·  Abel Pena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1"/>
          <p:cNvSpPr/>
          <p:nvPr/>
        </p:nvSpPr>
        <p:spPr>
          <a:xfrm>
            <a:off x="11384280" y="647395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99D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C99D6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1"/>
          <p:cNvSpPr/>
          <p:nvPr/>
        </p:nvSpPr>
        <p:spPr>
          <a:xfrm>
            <a:off x="502920" y="1691640"/>
            <a:ext cx="2670048" cy="1965960"/>
          </a:xfrm>
          <a:prstGeom prst="rect">
            <a:avLst/>
          </a:prstGeom>
          <a:solidFill>
            <a:srgbClr val="000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1"/>
          <p:cNvSpPr/>
          <p:nvPr/>
        </p:nvSpPr>
        <p:spPr>
          <a:xfrm>
            <a:off x="685800" y="1837944"/>
            <a:ext cx="23042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CEFF"/>
              </a:buClr>
              <a:buSzPts val="1050"/>
              <a:buFont typeface="Trebuchet MS"/>
              <a:buNone/>
            </a:pPr>
            <a:r>
              <a:rPr b="1" i="0" lang="en-US" sz="1050" u="none" cap="none" strike="noStrike">
                <a:solidFill>
                  <a:srgbClr val="C7CEFF"/>
                </a:solidFill>
                <a:latin typeface="Trebuchet MS"/>
                <a:ea typeface="Trebuchet MS"/>
                <a:cs typeface="Trebuchet MS"/>
                <a:sym typeface="Trebuchet MS"/>
              </a:rPr>
              <a:t>NOW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1"/>
          <p:cNvSpPr/>
          <p:nvPr/>
        </p:nvSpPr>
        <p:spPr>
          <a:xfrm>
            <a:off x="685800" y="2112264"/>
            <a:ext cx="23042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Status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1"/>
          <p:cNvSpPr/>
          <p:nvPr/>
        </p:nvSpPr>
        <p:spPr>
          <a:xfrm>
            <a:off x="685800" y="2560320"/>
            <a:ext cx="2304288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E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CEFFF"/>
                </a:solidFill>
                <a:latin typeface="Calibri"/>
                <a:ea typeface="Calibri"/>
                <a:cs typeface="Calibri"/>
                <a:sym typeface="Calibri"/>
              </a:rPr>
              <a:t>manual compile → generated rollup + live board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1"/>
          <p:cNvSpPr/>
          <p:nvPr/>
        </p:nvSpPr>
        <p:spPr>
          <a:xfrm>
            <a:off x="3127248" y="1691640"/>
            <a:ext cx="256032" cy="1965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B0F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9FB0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1"/>
          <p:cNvSpPr/>
          <p:nvPr/>
        </p:nvSpPr>
        <p:spPr>
          <a:xfrm>
            <a:off x="3337560" y="1691640"/>
            <a:ext cx="2670048" cy="1965960"/>
          </a:xfrm>
          <a:prstGeom prst="rect">
            <a:avLst/>
          </a:prstGeom>
          <a:solidFill>
            <a:srgbClr val="1C2C7E"/>
          </a:solidFill>
          <a:ln cap="flat" cmpd="sng" w="12700">
            <a:solidFill>
              <a:srgbClr val="3D4F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1"/>
          <p:cNvSpPr/>
          <p:nvPr/>
        </p:nvSpPr>
        <p:spPr>
          <a:xfrm>
            <a:off x="3520440" y="1837944"/>
            <a:ext cx="23042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0FF"/>
              </a:buClr>
              <a:buSzPts val="1050"/>
              <a:buFont typeface="Trebuchet MS"/>
              <a:buNone/>
            </a:pPr>
            <a:r>
              <a:rPr b="1" i="0" lang="en-US" sz="1050" u="none" cap="none" strike="noStrike">
                <a:solidFill>
                  <a:srgbClr val="9FB0FF"/>
                </a:solidFill>
                <a:latin typeface="Trebuchet MS"/>
                <a:ea typeface="Trebuchet MS"/>
                <a:cs typeface="Trebuchet MS"/>
                <a:sym typeface="Trebuchet MS"/>
              </a:rPr>
              <a:t>NEXT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1"/>
          <p:cNvSpPr/>
          <p:nvPr/>
        </p:nvSpPr>
        <p:spPr>
          <a:xfrm>
            <a:off x="3520440" y="2112264"/>
            <a:ext cx="23042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Spec hygiene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1"/>
          <p:cNvSpPr/>
          <p:nvPr/>
        </p:nvSpPr>
        <p:spPr>
          <a:xfrm>
            <a:off x="3520440" y="2560320"/>
            <a:ext cx="2304288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D6C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B9D6C6"/>
                </a:solidFill>
                <a:latin typeface="Calibri"/>
                <a:ea typeface="Calibri"/>
                <a:cs typeface="Calibri"/>
                <a:sym typeface="Calibri"/>
              </a:rPr>
              <a:t>the record keeps kickoff context current</a:t>
            </a:r>
            <a:r>
              <a:rPr lang="en-US" sz="1150">
                <a:solidFill>
                  <a:srgbClr val="B9D6C6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r>
              <a:rPr b="0" i="0" lang="en-US" sz="1150" u="none" cap="none" strike="noStrike">
                <a:solidFill>
                  <a:srgbClr val="B9D6C6"/>
                </a:solidFill>
                <a:latin typeface="Calibri"/>
                <a:ea typeface="Calibri"/>
                <a:cs typeface="Calibri"/>
                <a:sym typeface="Calibri"/>
              </a:rPr>
              <a:t> no 20-min re-walks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1"/>
          <p:cNvSpPr/>
          <p:nvPr/>
        </p:nvSpPr>
        <p:spPr>
          <a:xfrm>
            <a:off x="5961888" y="1691640"/>
            <a:ext cx="256032" cy="1965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B0F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9FB0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1"/>
          <p:cNvSpPr/>
          <p:nvPr/>
        </p:nvSpPr>
        <p:spPr>
          <a:xfrm>
            <a:off x="6172200" y="1691640"/>
            <a:ext cx="2670048" cy="1965960"/>
          </a:xfrm>
          <a:prstGeom prst="rect">
            <a:avLst/>
          </a:prstGeom>
          <a:solidFill>
            <a:srgbClr val="1C2C7E"/>
          </a:solidFill>
          <a:ln cap="flat" cmpd="sng" w="12700">
            <a:solidFill>
              <a:srgbClr val="3D4F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1"/>
          <p:cNvSpPr/>
          <p:nvPr/>
        </p:nvSpPr>
        <p:spPr>
          <a:xfrm>
            <a:off x="6355080" y="1837944"/>
            <a:ext cx="23042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0FF"/>
              </a:buClr>
              <a:buSzPts val="1050"/>
              <a:buFont typeface="Trebuchet MS"/>
              <a:buNone/>
            </a:pPr>
            <a:r>
              <a:rPr b="1" i="0" lang="en-US" sz="1050" u="none" cap="none" strike="noStrike">
                <a:solidFill>
                  <a:srgbClr val="9FB0FF"/>
                </a:solidFill>
                <a:latin typeface="Trebuchet MS"/>
                <a:ea typeface="Trebuchet MS"/>
                <a:cs typeface="Trebuchet MS"/>
                <a:sym typeface="Trebuchet MS"/>
              </a:rPr>
              <a:t>THEN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1"/>
          <p:cNvSpPr/>
          <p:nvPr/>
        </p:nvSpPr>
        <p:spPr>
          <a:xfrm>
            <a:off x="6355080" y="2112264"/>
            <a:ext cx="23042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QA scenarios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1"/>
          <p:cNvSpPr/>
          <p:nvPr/>
        </p:nvSpPr>
        <p:spPr>
          <a:xfrm>
            <a:off x="6355080" y="2560320"/>
            <a:ext cx="2304288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D6C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B9D6C6"/>
                </a:solidFill>
                <a:latin typeface="Calibri"/>
                <a:ea typeface="Calibri"/>
                <a:cs typeface="Calibri"/>
                <a:sym typeface="Calibri"/>
              </a:rPr>
              <a:t>generated from structured requirements, reused across teams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1"/>
          <p:cNvSpPr/>
          <p:nvPr/>
        </p:nvSpPr>
        <p:spPr>
          <a:xfrm>
            <a:off x="8796528" y="1691640"/>
            <a:ext cx="256032" cy="1965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B0F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9FB0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1"/>
          <p:cNvSpPr/>
          <p:nvPr/>
        </p:nvSpPr>
        <p:spPr>
          <a:xfrm>
            <a:off x="9006840" y="1691640"/>
            <a:ext cx="2670048" cy="1965960"/>
          </a:xfrm>
          <a:prstGeom prst="rect">
            <a:avLst/>
          </a:prstGeom>
          <a:solidFill>
            <a:srgbClr val="1C2C7E"/>
          </a:solidFill>
          <a:ln cap="flat" cmpd="sng" w="12700">
            <a:solidFill>
              <a:srgbClr val="3D4F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1"/>
          <p:cNvSpPr/>
          <p:nvPr/>
        </p:nvSpPr>
        <p:spPr>
          <a:xfrm>
            <a:off x="9189720" y="1837944"/>
            <a:ext cx="23042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0FF"/>
              </a:buClr>
              <a:buSzPts val="1050"/>
              <a:buFont typeface="Trebuchet MS"/>
              <a:buNone/>
            </a:pPr>
            <a:r>
              <a:rPr b="1" i="0" lang="en-US" sz="1050" u="none" cap="none" strike="noStrike">
                <a:solidFill>
                  <a:srgbClr val="9FB0FF"/>
                </a:solidFill>
                <a:latin typeface="Trebuchet MS"/>
                <a:ea typeface="Trebuchet MS"/>
                <a:cs typeface="Trebuchet MS"/>
                <a:sym typeface="Trebuchet MS"/>
              </a:rPr>
              <a:t>THEN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1"/>
          <p:cNvSpPr/>
          <p:nvPr/>
        </p:nvSpPr>
        <p:spPr>
          <a:xfrm>
            <a:off x="9189720" y="2112264"/>
            <a:ext cx="23042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GTM briefs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1"/>
          <p:cNvSpPr/>
          <p:nvPr/>
        </p:nvSpPr>
        <p:spPr>
          <a:xfrm>
            <a:off x="9189720" y="2560320"/>
            <a:ext cx="2304288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D6C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B9D6C6"/>
                </a:solidFill>
                <a:latin typeface="Calibri"/>
                <a:ea typeface="Calibri"/>
                <a:cs typeface="Calibri"/>
                <a:sym typeface="Calibri"/>
              </a:rPr>
              <a:t>“what shipped / why” generated for CS &amp; marketing self-serve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1"/>
          <p:cNvSpPr/>
          <p:nvPr/>
        </p:nvSpPr>
        <p:spPr>
          <a:xfrm>
            <a:off x="502920" y="4251960"/>
            <a:ext cx="11201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One source of truth. Many artifacts. Zero re-keying.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1"/>
          <p:cNvSpPr/>
          <p:nvPr/>
        </p:nvSpPr>
        <p:spPr>
          <a:xfrm>
            <a:off x="502920" y="4983480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2FF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DCE2FF"/>
                </a:solidFill>
                <a:latin typeface="Calibri"/>
                <a:ea typeface="Calibri"/>
                <a:cs typeface="Calibri"/>
                <a:sym typeface="Calibri"/>
              </a:rPr>
              <a:t>Each phase generates from the same record the PM already keeps fresh in 2 minutes a week</a:t>
            </a:r>
            <a:r>
              <a:rPr lang="en-US" sz="1450">
                <a:solidFill>
                  <a:srgbClr val="DCE2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1"/>
          <p:cNvSpPr/>
          <p:nvPr/>
        </p:nvSpPr>
        <p:spPr>
          <a:xfrm>
            <a:off x="502920" y="594360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0FF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9FB0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2026-06-10T03:06:23Z</dcterms:created>
  <dc:creator>Abel Pena</dc:creator>
</cp:coreProperties>
</file>